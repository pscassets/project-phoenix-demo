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8" r:id="rId2"/>
    <p:sldId id="257" r:id="rId3"/>
    <p:sldId id="259" r:id="rId9"/>
    <p:sldId id="260"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2" d="100"/>
          <a:sy n="112" d="100"/>
        </p:scale>
        <p:origin x="376" y="-2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85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78366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7660" y="285750"/>
            <a:ext cx="18943320" cy="452438"/>
          </a:xfrm>
          <a:prstGeom prst="rect">
            <a:avLst/>
          </a:prstGeom>
          <a:noFill/>
          <a:ln/>
        </p:spPr>
        <p:txBody>
          <a:bodyPr wrap="square" lIns="25400" tIns="25400" rIns="25400" bIns="25400" rtlCol="0" anchor="t">
            <a:normAutofit lnSpcReduction="10000"/>
          </a:bodyPr>
          <a:lstStyle/>
          <a:p>
            <a:pPr marL="0" indent="0" algn="ctr">
              <a:buNone/>
            </a:pPr>
            <a:r>
              <a:rPr lang="en-US" sz="2700" b="1" kern="0" spc="-27" dirty="0">
                <a:solidFill>
                  <a:srgbClr val="111827"/>
                </a:solidFill>
                <a:latin typeface="Inter" pitchFamily="34" charset="0"/>
                <a:ea typeface="Inter" pitchFamily="34" charset="-122"/>
                <a:cs typeface="Inter" pitchFamily="34" charset="-120"/>
              </a:rPr>
              <a:t>Everlywell Telehealth Platform</a:t>
            </a:r>
            <a:endParaRPr lang="en-US" sz="2700" dirty="0"/>
          </a:p>
        </p:txBody>
      </p:sp>
      <p:sp>
        <p:nvSpPr>
          <p:cNvPr id="3" name="Text 1"/>
          <p:cNvSpPr/>
          <p:nvPr/>
        </p:nvSpPr>
        <p:spPr>
          <a:xfrm>
            <a:off x="-327660" y="757238"/>
            <a:ext cx="18943320" cy="257175"/>
          </a:xfrm>
          <a:prstGeom prst="rect">
            <a:avLst/>
          </a:prstGeom>
          <a:noFill/>
          <a:ln/>
        </p:spPr>
        <p:txBody>
          <a:bodyPr wrap="square" lIns="25400" tIns="25400" rIns="25400" bIns="25400" rtlCol="0" anchor="t">
            <a:normAutofit lnSpcReduction="10000"/>
          </a:bodyPr>
          <a:lstStyle/>
          <a:p>
            <a:pPr marL="0" indent="0" algn="ctr">
              <a:buNone/>
            </a:pPr>
            <a:r>
              <a:rPr lang="en-US" sz="1425" dirty="0">
                <a:solidFill>
                  <a:srgbClr val="6B7280"/>
                </a:solidFill>
                <a:latin typeface="Inter" pitchFamily="34" charset="0"/>
                <a:ea typeface="Inter" pitchFamily="34" charset="-122"/>
                <a:cs typeface="Inter" pitchFamily="34" charset="-120"/>
              </a:rPr>
              <a:t>Automated consult lifecycle management from patient request to completed care across every program and role</a:t>
            </a:r>
            <a:endParaRPr lang="en-US" sz="1425" dirty="0"/>
          </a:p>
        </p:txBody>
      </p:sp>
      <p:sp>
        <p:nvSpPr>
          <p:cNvPr id="4" name="Text 2"/>
          <p:cNvSpPr/>
          <p:nvPr/>
        </p:nvSpPr>
        <p:spPr>
          <a:xfrm>
            <a:off x="533400" y="1052513"/>
            <a:ext cx="1894332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WHERE PATIENTS ENTER</a:t>
            </a:r>
            <a:endParaRPr lang="en-US" sz="1050" dirty="0"/>
          </a:p>
        </p:txBody>
      </p:sp>
      <p:sp>
        <p:nvSpPr>
          <p:cNvPr id="5" name="Shape 3"/>
          <p:cNvSpPr/>
          <p:nvPr/>
        </p:nvSpPr>
        <p:spPr>
          <a:xfrm>
            <a:off x="533400" y="1309688"/>
            <a:ext cx="17221200" cy="1319213"/>
          </a:xfrm>
          <a:prstGeom prst="roundRect">
            <a:avLst>
              <a:gd name="adj" fmla="val 11552"/>
            </a:avLst>
          </a:prstGeom>
          <a:solidFill>
            <a:srgbClr val="FFFFFF"/>
          </a:solidFill>
          <a:ln w="19050">
            <a:solidFill>
              <a:srgbClr val="E5E0D8"/>
            </a:solidFill>
            <a:prstDash val="solid"/>
          </a:ln>
        </p:spPr>
        <p:txBody>
          <a:bodyPr/>
          <a:lstStyle/>
          <a:p>
            <a:endParaRPr lang="en-US" dirty="0"/>
          </a:p>
        </p:txBody>
      </p:sp>
      <p:sp>
        <p:nvSpPr>
          <p:cNvPr id="6" name="Shape 4"/>
          <p:cNvSpPr/>
          <p:nvPr/>
        </p:nvSpPr>
        <p:spPr>
          <a:xfrm>
            <a:off x="800100" y="1771650"/>
            <a:ext cx="5422850" cy="19050"/>
          </a:xfrm>
          <a:prstGeom prst="rect">
            <a:avLst/>
          </a:prstGeom>
          <a:solidFill>
            <a:srgbClr val="E5E0D8"/>
          </a:solidFill>
          <a:ln/>
        </p:spPr>
      </p:sp>
      <p:sp>
        <p:nvSpPr>
          <p:cNvPr id="7" name="Text 5"/>
          <p:cNvSpPr/>
          <p:nvPr/>
        </p:nvSpPr>
        <p:spPr>
          <a:xfrm>
            <a:off x="800100"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Patient Portal</a:t>
            </a:r>
            <a:endParaRPr lang="en-US" sz="1275" dirty="0"/>
          </a:p>
        </p:txBody>
      </p:sp>
      <p:sp>
        <p:nvSpPr>
          <p:cNvPr id="8" name="Shape 6"/>
          <p:cNvSpPr/>
          <p:nvPr/>
        </p:nvSpPr>
        <p:spPr>
          <a:xfrm>
            <a:off x="800100" y="1885950"/>
            <a:ext cx="1443186" cy="247650"/>
          </a:xfrm>
          <a:prstGeom prst="roundRect">
            <a:avLst>
              <a:gd name="adj" fmla="val 46154"/>
            </a:avLst>
          </a:prstGeom>
          <a:solidFill>
            <a:srgbClr val="EDE9FE"/>
          </a:solidFill>
          <a:ln/>
        </p:spPr>
      </p:sp>
      <p:sp>
        <p:nvSpPr>
          <p:cNvPr id="9" name="Text 7"/>
          <p:cNvSpPr/>
          <p:nvPr/>
        </p:nvSpPr>
        <p:spPr>
          <a:xfrm>
            <a:off x="923925" y="1924050"/>
            <a:ext cx="127173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Account &amp; Profile</a:t>
            </a:r>
            <a:endParaRPr lang="en-US" sz="1125" dirty="0"/>
          </a:p>
        </p:txBody>
      </p:sp>
      <p:sp>
        <p:nvSpPr>
          <p:cNvPr id="10" name="Shape 8"/>
          <p:cNvSpPr/>
          <p:nvPr/>
        </p:nvSpPr>
        <p:spPr>
          <a:xfrm>
            <a:off x="2300436" y="1885950"/>
            <a:ext cx="1044773" cy="247650"/>
          </a:xfrm>
          <a:prstGeom prst="roundRect">
            <a:avLst>
              <a:gd name="adj" fmla="val 46154"/>
            </a:avLst>
          </a:prstGeom>
          <a:solidFill>
            <a:srgbClr val="EDE9FE"/>
          </a:solidFill>
          <a:ln/>
        </p:spPr>
      </p:sp>
      <p:sp>
        <p:nvSpPr>
          <p:cNvPr id="11" name="Text 9"/>
          <p:cNvSpPr/>
          <p:nvPr/>
        </p:nvSpPr>
        <p:spPr>
          <a:xfrm>
            <a:off x="2424261" y="1924050"/>
            <a:ext cx="87332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Lab Results</a:t>
            </a:r>
            <a:endParaRPr lang="en-US" sz="1125" dirty="0"/>
          </a:p>
        </p:txBody>
      </p:sp>
      <p:sp>
        <p:nvSpPr>
          <p:cNvPr id="12" name="Shape 10"/>
          <p:cNvSpPr/>
          <p:nvPr/>
        </p:nvSpPr>
        <p:spPr>
          <a:xfrm>
            <a:off x="3402360" y="1885950"/>
            <a:ext cx="1138089" cy="247650"/>
          </a:xfrm>
          <a:prstGeom prst="roundRect">
            <a:avLst>
              <a:gd name="adj" fmla="val 46154"/>
            </a:avLst>
          </a:prstGeom>
          <a:solidFill>
            <a:srgbClr val="EDE9FE"/>
          </a:solidFill>
          <a:ln/>
        </p:spPr>
      </p:sp>
      <p:sp>
        <p:nvSpPr>
          <p:cNvPr id="13" name="Text 11"/>
          <p:cNvSpPr/>
          <p:nvPr/>
        </p:nvSpPr>
        <p:spPr>
          <a:xfrm>
            <a:off x="3526185" y="1924050"/>
            <a:ext cx="96663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Intake Forms</a:t>
            </a:r>
            <a:endParaRPr lang="en-US" sz="1125" dirty="0"/>
          </a:p>
        </p:txBody>
      </p:sp>
      <p:sp>
        <p:nvSpPr>
          <p:cNvPr id="14" name="Shape 12"/>
          <p:cNvSpPr/>
          <p:nvPr/>
        </p:nvSpPr>
        <p:spPr>
          <a:xfrm>
            <a:off x="4597598" y="1885950"/>
            <a:ext cx="1385143" cy="247650"/>
          </a:xfrm>
          <a:prstGeom prst="roundRect">
            <a:avLst>
              <a:gd name="adj" fmla="val 46154"/>
            </a:avLst>
          </a:prstGeom>
          <a:solidFill>
            <a:srgbClr val="EDE9FE"/>
          </a:solidFill>
          <a:ln/>
        </p:spPr>
      </p:sp>
      <p:sp>
        <p:nvSpPr>
          <p:cNvPr id="15" name="Text 13"/>
          <p:cNvSpPr/>
          <p:nvPr/>
        </p:nvSpPr>
        <p:spPr>
          <a:xfrm>
            <a:off x="4721423" y="1924050"/>
            <a:ext cx="121369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Consult Request</a:t>
            </a:r>
            <a:endParaRPr lang="en-US" sz="1125" dirty="0"/>
          </a:p>
        </p:txBody>
      </p:sp>
      <p:sp>
        <p:nvSpPr>
          <p:cNvPr id="16" name="Shape 14"/>
          <p:cNvSpPr/>
          <p:nvPr/>
        </p:nvSpPr>
        <p:spPr>
          <a:xfrm>
            <a:off x="800100" y="2190750"/>
            <a:ext cx="1024012" cy="247650"/>
          </a:xfrm>
          <a:prstGeom prst="roundRect">
            <a:avLst>
              <a:gd name="adj" fmla="val 46154"/>
            </a:avLst>
          </a:prstGeom>
          <a:solidFill>
            <a:srgbClr val="EDE9FE"/>
          </a:solidFill>
          <a:ln/>
        </p:spPr>
      </p:sp>
      <p:sp>
        <p:nvSpPr>
          <p:cNvPr id="17" name="Text 15"/>
          <p:cNvSpPr/>
          <p:nvPr/>
        </p:nvSpPr>
        <p:spPr>
          <a:xfrm>
            <a:off x="923925" y="2228850"/>
            <a:ext cx="85256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Scheduling</a:t>
            </a:r>
            <a:endParaRPr lang="en-US" sz="1125" dirty="0"/>
          </a:p>
        </p:txBody>
      </p:sp>
      <p:sp>
        <p:nvSpPr>
          <p:cNvPr id="18" name="Shape 16"/>
          <p:cNvSpPr/>
          <p:nvPr/>
        </p:nvSpPr>
        <p:spPr>
          <a:xfrm>
            <a:off x="1881262" y="2190750"/>
            <a:ext cx="1006525" cy="247650"/>
          </a:xfrm>
          <a:prstGeom prst="roundRect">
            <a:avLst>
              <a:gd name="adj" fmla="val 46154"/>
            </a:avLst>
          </a:prstGeom>
          <a:solidFill>
            <a:srgbClr val="EDE9FE"/>
          </a:solidFill>
          <a:ln/>
        </p:spPr>
      </p:sp>
      <p:sp>
        <p:nvSpPr>
          <p:cNvPr id="19" name="Text 17"/>
          <p:cNvSpPr/>
          <p:nvPr/>
        </p:nvSpPr>
        <p:spPr>
          <a:xfrm>
            <a:off x="2005087" y="2228850"/>
            <a:ext cx="83507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Messaging</a:t>
            </a:r>
            <a:endParaRPr lang="en-US" sz="1125" dirty="0"/>
          </a:p>
        </p:txBody>
      </p:sp>
      <p:sp>
        <p:nvSpPr>
          <p:cNvPr id="20" name="Shape 18"/>
          <p:cNvSpPr/>
          <p:nvPr/>
        </p:nvSpPr>
        <p:spPr>
          <a:xfrm>
            <a:off x="2944937" y="2190750"/>
            <a:ext cx="1097831" cy="247650"/>
          </a:xfrm>
          <a:prstGeom prst="roundRect">
            <a:avLst>
              <a:gd name="adj" fmla="val 46154"/>
            </a:avLst>
          </a:prstGeom>
          <a:solidFill>
            <a:srgbClr val="EDE9FE"/>
          </a:solidFill>
          <a:ln/>
        </p:spPr>
      </p:sp>
      <p:sp>
        <p:nvSpPr>
          <p:cNvPr id="21" name="Text 19"/>
          <p:cNvSpPr/>
          <p:nvPr/>
        </p:nvSpPr>
        <p:spPr>
          <a:xfrm>
            <a:off x="3068762" y="2228850"/>
            <a:ext cx="92638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5B21B6"/>
                </a:solidFill>
                <a:latin typeface="Inter" pitchFamily="34" charset="0"/>
                <a:ea typeface="Inter" pitchFamily="34" charset="-122"/>
                <a:cs typeface="Inter" pitchFamily="34" charset="-120"/>
              </a:rPr>
              <a:t>Rx &amp; Results</a:t>
            </a:r>
            <a:endParaRPr lang="en-US" sz="1125" dirty="0"/>
          </a:p>
        </p:txBody>
      </p:sp>
      <p:sp>
        <p:nvSpPr>
          <p:cNvPr id="22" name="Shape 20"/>
          <p:cNvSpPr/>
          <p:nvPr/>
        </p:nvSpPr>
        <p:spPr>
          <a:xfrm>
            <a:off x="6432500" y="1771650"/>
            <a:ext cx="5422925" cy="19050"/>
          </a:xfrm>
          <a:prstGeom prst="rect">
            <a:avLst/>
          </a:prstGeom>
          <a:solidFill>
            <a:srgbClr val="E5E0D8"/>
          </a:solidFill>
          <a:ln/>
        </p:spPr>
      </p:sp>
      <p:sp>
        <p:nvSpPr>
          <p:cNvPr id="23" name="Text 21"/>
          <p:cNvSpPr/>
          <p:nvPr/>
        </p:nvSpPr>
        <p:spPr>
          <a:xfrm>
            <a:off x="6432500" y="1500188"/>
            <a:ext cx="5585613"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PWN Partner Portal (Patient Portal – Non-Branded) </a:t>
            </a:r>
            <a:endParaRPr lang="en-US" sz="1275" dirty="0"/>
          </a:p>
        </p:txBody>
      </p:sp>
      <p:sp>
        <p:nvSpPr>
          <p:cNvPr id="24" name="Shape 22"/>
          <p:cNvSpPr/>
          <p:nvPr/>
        </p:nvSpPr>
        <p:spPr>
          <a:xfrm>
            <a:off x="6432500" y="1885950"/>
            <a:ext cx="1550417" cy="247650"/>
          </a:xfrm>
          <a:prstGeom prst="roundRect">
            <a:avLst>
              <a:gd name="adj" fmla="val 46154"/>
            </a:avLst>
          </a:prstGeom>
          <a:solidFill>
            <a:srgbClr val="DBEAFE"/>
          </a:solidFill>
          <a:ln/>
        </p:spPr>
      </p:sp>
      <p:sp>
        <p:nvSpPr>
          <p:cNvPr id="25" name="Text 23"/>
          <p:cNvSpPr/>
          <p:nvPr/>
        </p:nvSpPr>
        <p:spPr>
          <a:xfrm>
            <a:off x="6556325" y="1924050"/>
            <a:ext cx="13789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Health Plan Clients</a:t>
            </a:r>
            <a:endParaRPr lang="en-US" sz="1125" dirty="0"/>
          </a:p>
        </p:txBody>
      </p:sp>
      <p:sp>
        <p:nvSpPr>
          <p:cNvPr id="26" name="Shape 24"/>
          <p:cNvSpPr/>
          <p:nvPr/>
        </p:nvSpPr>
        <p:spPr>
          <a:xfrm>
            <a:off x="8040067" y="1885950"/>
            <a:ext cx="1244203" cy="247650"/>
          </a:xfrm>
          <a:prstGeom prst="roundRect">
            <a:avLst>
              <a:gd name="adj" fmla="val 46154"/>
            </a:avLst>
          </a:prstGeom>
          <a:solidFill>
            <a:srgbClr val="DBEAFE"/>
          </a:solidFill>
          <a:ln/>
        </p:spPr>
      </p:sp>
      <p:sp>
        <p:nvSpPr>
          <p:cNvPr id="27" name="Text 25"/>
          <p:cNvSpPr/>
          <p:nvPr/>
        </p:nvSpPr>
        <p:spPr>
          <a:xfrm>
            <a:off x="8163892" y="1924050"/>
            <a:ext cx="1072753"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DTC Programs</a:t>
            </a:r>
            <a:endParaRPr lang="en-US" sz="1125" dirty="0"/>
          </a:p>
        </p:txBody>
      </p:sp>
      <p:sp>
        <p:nvSpPr>
          <p:cNvPr id="28" name="Shape 26"/>
          <p:cNvSpPr/>
          <p:nvPr/>
        </p:nvSpPr>
        <p:spPr>
          <a:xfrm>
            <a:off x="9341421" y="1885950"/>
            <a:ext cx="1323305" cy="247650"/>
          </a:xfrm>
          <a:prstGeom prst="roundRect">
            <a:avLst>
              <a:gd name="adj" fmla="val 46154"/>
            </a:avLst>
          </a:prstGeom>
          <a:solidFill>
            <a:srgbClr val="DBEAFE"/>
          </a:solidFill>
          <a:ln/>
        </p:spPr>
      </p:sp>
      <p:sp>
        <p:nvSpPr>
          <p:cNvPr id="29" name="Text 27"/>
          <p:cNvSpPr/>
          <p:nvPr/>
        </p:nvSpPr>
        <p:spPr>
          <a:xfrm>
            <a:off x="9465246" y="1924050"/>
            <a:ext cx="115185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Blinded Studies</a:t>
            </a:r>
            <a:endParaRPr lang="en-US" sz="1125" dirty="0"/>
          </a:p>
        </p:txBody>
      </p:sp>
      <p:sp>
        <p:nvSpPr>
          <p:cNvPr id="30" name="Shape 28"/>
          <p:cNvSpPr/>
          <p:nvPr/>
        </p:nvSpPr>
        <p:spPr>
          <a:xfrm>
            <a:off x="6432500" y="2190750"/>
            <a:ext cx="1305818" cy="247650"/>
          </a:xfrm>
          <a:prstGeom prst="roundRect">
            <a:avLst>
              <a:gd name="adj" fmla="val 46154"/>
            </a:avLst>
          </a:prstGeom>
          <a:solidFill>
            <a:srgbClr val="DBEAFE"/>
          </a:solidFill>
          <a:ln/>
        </p:spPr>
      </p:sp>
      <p:sp>
        <p:nvSpPr>
          <p:cNvPr id="31" name="Text 29"/>
          <p:cNvSpPr/>
          <p:nvPr/>
        </p:nvSpPr>
        <p:spPr>
          <a:xfrm>
            <a:off x="6556325" y="2228850"/>
            <a:ext cx="1134368"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D4ED8"/>
                </a:solidFill>
                <a:latin typeface="Inter" pitchFamily="34" charset="0"/>
                <a:ea typeface="Inter" pitchFamily="34" charset="-122"/>
                <a:cs typeface="Inter" pitchFamily="34" charset="-120"/>
              </a:rPr>
              <a:t>Isolated Tenant</a:t>
            </a:r>
            <a:endParaRPr lang="en-US" sz="1125" dirty="0"/>
          </a:p>
        </p:txBody>
      </p:sp>
      <p:sp>
        <p:nvSpPr>
          <p:cNvPr id="32" name="Shape 30"/>
          <p:cNvSpPr/>
          <p:nvPr/>
        </p:nvSpPr>
        <p:spPr>
          <a:xfrm>
            <a:off x="12064975" y="1771650"/>
            <a:ext cx="5422850" cy="19050"/>
          </a:xfrm>
          <a:prstGeom prst="rect">
            <a:avLst/>
          </a:prstGeom>
          <a:solidFill>
            <a:srgbClr val="E5E0D8"/>
          </a:solidFill>
          <a:ln/>
        </p:spPr>
      </p:sp>
      <p:sp>
        <p:nvSpPr>
          <p:cNvPr id="33" name="Text 31"/>
          <p:cNvSpPr/>
          <p:nvPr/>
        </p:nvSpPr>
        <p:spPr>
          <a:xfrm>
            <a:off x="12064975" y="1500188"/>
            <a:ext cx="5585536" cy="233362"/>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11827"/>
                </a:solidFill>
                <a:latin typeface="Inter" pitchFamily="34" charset="0"/>
                <a:ea typeface="Inter" pitchFamily="34" charset="-122"/>
                <a:cs typeface="Inter" pitchFamily="34" charset="-120"/>
              </a:rPr>
              <a:t>Admin Configuration</a:t>
            </a:r>
            <a:endParaRPr lang="en-US" sz="1275" dirty="0"/>
          </a:p>
        </p:txBody>
      </p:sp>
      <p:sp>
        <p:nvSpPr>
          <p:cNvPr id="34" name="Shape 32"/>
          <p:cNvSpPr/>
          <p:nvPr/>
        </p:nvSpPr>
        <p:spPr>
          <a:xfrm>
            <a:off x="12064975" y="1885950"/>
            <a:ext cx="1229469" cy="247650"/>
          </a:xfrm>
          <a:prstGeom prst="roundRect">
            <a:avLst>
              <a:gd name="adj" fmla="val 46154"/>
            </a:avLst>
          </a:prstGeom>
          <a:solidFill>
            <a:srgbClr val="F3F4F6"/>
          </a:solidFill>
          <a:ln/>
        </p:spPr>
      </p:sp>
      <p:sp>
        <p:nvSpPr>
          <p:cNvPr id="35" name="Text 33"/>
          <p:cNvSpPr/>
          <p:nvPr/>
        </p:nvSpPr>
        <p:spPr>
          <a:xfrm>
            <a:off x="12188800" y="1924050"/>
            <a:ext cx="105801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Care Products</a:t>
            </a:r>
            <a:endParaRPr lang="en-US" sz="1125" dirty="0"/>
          </a:p>
        </p:txBody>
      </p:sp>
      <p:sp>
        <p:nvSpPr>
          <p:cNvPr id="36" name="Shape 34"/>
          <p:cNvSpPr/>
          <p:nvPr/>
        </p:nvSpPr>
        <p:spPr>
          <a:xfrm>
            <a:off x="13351594" y="1885950"/>
            <a:ext cx="1024384" cy="247650"/>
          </a:xfrm>
          <a:prstGeom prst="roundRect">
            <a:avLst>
              <a:gd name="adj" fmla="val 46154"/>
            </a:avLst>
          </a:prstGeom>
          <a:solidFill>
            <a:srgbClr val="F3F4F6"/>
          </a:solidFill>
          <a:ln/>
        </p:spPr>
      </p:sp>
      <p:sp>
        <p:nvSpPr>
          <p:cNvPr id="37" name="Text 35"/>
          <p:cNvSpPr/>
          <p:nvPr/>
        </p:nvSpPr>
        <p:spPr>
          <a:xfrm>
            <a:off x="13475419" y="1924050"/>
            <a:ext cx="852934"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State Rules</a:t>
            </a:r>
            <a:endParaRPr lang="en-US" sz="1125" dirty="0"/>
          </a:p>
        </p:txBody>
      </p:sp>
      <p:sp>
        <p:nvSpPr>
          <p:cNvPr id="38" name="Shape 36"/>
          <p:cNvSpPr/>
          <p:nvPr/>
        </p:nvSpPr>
        <p:spPr>
          <a:xfrm>
            <a:off x="14433128" y="1885950"/>
            <a:ext cx="1067916" cy="247650"/>
          </a:xfrm>
          <a:prstGeom prst="roundRect">
            <a:avLst>
              <a:gd name="adj" fmla="val 46154"/>
            </a:avLst>
          </a:prstGeom>
          <a:solidFill>
            <a:srgbClr val="F3F4F6"/>
          </a:solidFill>
          <a:ln/>
        </p:spPr>
      </p:sp>
      <p:sp>
        <p:nvSpPr>
          <p:cNvPr id="39" name="Text 37"/>
          <p:cNvSpPr/>
          <p:nvPr/>
        </p:nvSpPr>
        <p:spPr>
          <a:xfrm>
            <a:off x="14556953" y="1924050"/>
            <a:ext cx="89646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Team Setup</a:t>
            </a:r>
            <a:endParaRPr lang="en-US" sz="1125" dirty="0"/>
          </a:p>
        </p:txBody>
      </p:sp>
      <p:sp>
        <p:nvSpPr>
          <p:cNvPr id="40" name="Shape 38"/>
          <p:cNvSpPr/>
          <p:nvPr/>
        </p:nvSpPr>
        <p:spPr>
          <a:xfrm>
            <a:off x="15558195" y="1885950"/>
            <a:ext cx="1339230" cy="247650"/>
          </a:xfrm>
          <a:prstGeom prst="roundRect">
            <a:avLst>
              <a:gd name="adj" fmla="val 46154"/>
            </a:avLst>
          </a:prstGeom>
          <a:solidFill>
            <a:srgbClr val="F3F4F6"/>
          </a:solidFill>
          <a:ln/>
        </p:spPr>
      </p:sp>
      <p:sp>
        <p:nvSpPr>
          <p:cNvPr id="41" name="Text 39"/>
          <p:cNvSpPr/>
          <p:nvPr/>
        </p:nvSpPr>
        <p:spPr>
          <a:xfrm>
            <a:off x="15682020" y="1924050"/>
            <a:ext cx="116778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SLA Thresholds</a:t>
            </a:r>
            <a:endParaRPr lang="en-US" sz="1125" dirty="0"/>
          </a:p>
        </p:txBody>
      </p:sp>
      <p:sp>
        <p:nvSpPr>
          <p:cNvPr id="42" name="Shape 40"/>
          <p:cNvSpPr/>
          <p:nvPr/>
        </p:nvSpPr>
        <p:spPr>
          <a:xfrm>
            <a:off x="12064975" y="2190750"/>
            <a:ext cx="1328291" cy="247650"/>
          </a:xfrm>
          <a:prstGeom prst="roundRect">
            <a:avLst>
              <a:gd name="adj" fmla="val 46154"/>
            </a:avLst>
          </a:prstGeom>
          <a:solidFill>
            <a:srgbClr val="F3F4F6"/>
          </a:solidFill>
          <a:ln/>
        </p:spPr>
      </p:sp>
      <p:sp>
        <p:nvSpPr>
          <p:cNvPr id="43" name="Text 41"/>
          <p:cNvSpPr/>
          <p:nvPr/>
        </p:nvSpPr>
        <p:spPr>
          <a:xfrm>
            <a:off x="12188800" y="2228850"/>
            <a:ext cx="115684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Workflow Rules</a:t>
            </a:r>
            <a:endParaRPr lang="en-US" sz="1125" dirty="0"/>
          </a:p>
        </p:txBody>
      </p:sp>
      <p:sp>
        <p:nvSpPr>
          <p:cNvPr id="44" name="Text 42"/>
          <p:cNvSpPr/>
          <p:nvPr/>
        </p:nvSpPr>
        <p:spPr>
          <a:xfrm>
            <a:off x="-327660" y="2667000"/>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5" name="Shape 43"/>
          <p:cNvSpPr/>
          <p:nvPr/>
        </p:nvSpPr>
        <p:spPr>
          <a:xfrm>
            <a:off x="533400" y="2876550"/>
            <a:ext cx="17221200" cy="3667125"/>
          </a:xfrm>
          <a:prstGeom prst="roundRect">
            <a:avLst>
              <a:gd name="adj" fmla="val 4156"/>
            </a:avLst>
          </a:prstGeom>
          <a:solidFill>
            <a:srgbClr val="FFFFFF"/>
          </a:solidFill>
          <a:ln w="28575">
            <a:solidFill>
              <a:srgbClr val="6D28D9"/>
            </a:solidFill>
            <a:prstDash val="solid"/>
          </a:ln>
        </p:spPr>
      </p:sp>
      <p:sp>
        <p:nvSpPr>
          <p:cNvPr id="46" name="Text 44"/>
          <p:cNvSpPr/>
          <p:nvPr/>
        </p:nvSpPr>
        <p:spPr>
          <a:xfrm>
            <a:off x="-23813" y="3038475"/>
            <a:ext cx="18335625" cy="338138"/>
          </a:xfrm>
          <a:prstGeom prst="rect">
            <a:avLst/>
          </a:prstGeom>
          <a:noFill/>
          <a:ln/>
        </p:spPr>
        <p:txBody>
          <a:bodyPr wrap="square" lIns="25400" tIns="25400" rIns="25400" bIns="25400" rtlCol="0" anchor="t">
            <a:normAutofit/>
          </a:bodyPr>
          <a:lstStyle/>
          <a:p>
            <a:pPr marL="0" indent="0" algn="ctr">
              <a:buNone/>
            </a:pPr>
            <a:r>
              <a:rPr lang="en-US" sz="1800" b="1" dirty="0">
                <a:solidFill>
                  <a:srgbClr val="111827"/>
                </a:solidFill>
                <a:latin typeface="Inter" pitchFamily="34" charset="0"/>
                <a:ea typeface="Inter" pitchFamily="34" charset="-122"/>
                <a:cs typeface="Inter" pitchFamily="34" charset="-120"/>
              </a:rPr>
              <a:t>⚡ </a:t>
            </a:r>
            <a:r>
              <a:rPr lang="en-US" sz="1800" b="1" dirty="0">
                <a:solidFill>
                  <a:srgbClr val="6D28D9"/>
                </a:solidFill>
                <a:latin typeface="Inter" pitchFamily="34" charset="0"/>
                <a:ea typeface="Inter" pitchFamily="34" charset="-122"/>
                <a:cs typeface="Inter" pitchFamily="34" charset="-120"/>
              </a:rPr>
              <a:t>The Air Traffic Controller</a:t>
            </a:r>
            <a:endParaRPr lang="en-US" sz="1800" dirty="0"/>
          </a:p>
        </p:txBody>
      </p:sp>
      <p:sp>
        <p:nvSpPr>
          <p:cNvPr id="47" name="Text 45"/>
          <p:cNvSpPr/>
          <p:nvPr/>
        </p:nvSpPr>
        <p:spPr>
          <a:xfrm>
            <a:off x="-23813" y="3386138"/>
            <a:ext cx="18335625" cy="233362"/>
          </a:xfrm>
          <a:prstGeom prst="rect">
            <a:avLst/>
          </a:prstGeom>
          <a:noFill/>
          <a:ln/>
        </p:spPr>
        <p:txBody>
          <a:bodyPr wrap="square" lIns="25400" tIns="25400" rIns="25400" bIns="25400" rtlCol="0" anchor="t">
            <a:normAutofit lnSpcReduction="10000"/>
          </a:bodyPr>
          <a:lstStyle/>
          <a:p>
            <a:pPr marL="0" indent="0" algn="ctr">
              <a:buNone/>
            </a:pPr>
            <a:r>
              <a:rPr lang="en-US" sz="1275" dirty="0">
                <a:solidFill>
                  <a:srgbClr val="6B7280"/>
                </a:solidFill>
                <a:latin typeface="Inter" pitchFamily="34" charset="0"/>
                <a:ea typeface="Inter" pitchFamily="34" charset="-122"/>
                <a:cs typeface="Inter" pitchFamily="34" charset="-120"/>
              </a:rPr>
              <a:t>Every consult is tracked, routed and managed automatically with no manual handoffs</a:t>
            </a:r>
            <a:endParaRPr lang="en-US" sz="1275" dirty="0"/>
          </a:p>
        </p:txBody>
      </p:sp>
      <p:sp>
        <p:nvSpPr>
          <p:cNvPr id="48" name="Shape 46"/>
          <p:cNvSpPr/>
          <p:nvPr/>
        </p:nvSpPr>
        <p:spPr>
          <a:xfrm>
            <a:off x="809625" y="3676650"/>
            <a:ext cx="16668750" cy="661988"/>
          </a:xfrm>
          <a:prstGeom prst="roundRect">
            <a:avLst>
              <a:gd name="adj" fmla="val 14388"/>
            </a:avLst>
          </a:prstGeom>
          <a:solidFill>
            <a:srgbClr val="F5F3FF"/>
          </a:solidFill>
          <a:ln/>
        </p:spPr>
      </p:sp>
      <p:sp>
        <p:nvSpPr>
          <p:cNvPr id="49" name="Shape 47"/>
          <p:cNvSpPr/>
          <p:nvPr/>
        </p:nvSpPr>
        <p:spPr>
          <a:xfrm>
            <a:off x="809625" y="4329113"/>
            <a:ext cx="16668750" cy="9525"/>
          </a:xfrm>
          <a:prstGeom prst="rect">
            <a:avLst/>
          </a:prstGeom>
          <a:solidFill>
            <a:srgbClr val="DDD6FE"/>
          </a:solidFill>
          <a:ln/>
        </p:spPr>
      </p:sp>
      <p:sp>
        <p:nvSpPr>
          <p:cNvPr id="50" name="Shape 48"/>
          <p:cNvSpPr/>
          <p:nvPr/>
        </p:nvSpPr>
        <p:spPr>
          <a:xfrm>
            <a:off x="809625" y="3676650"/>
            <a:ext cx="16668750" cy="9525"/>
          </a:xfrm>
          <a:prstGeom prst="rect">
            <a:avLst/>
          </a:prstGeom>
          <a:solidFill>
            <a:srgbClr val="DDD6FE"/>
          </a:solidFill>
          <a:ln/>
        </p:spPr>
      </p:sp>
      <p:sp>
        <p:nvSpPr>
          <p:cNvPr id="51" name="Shape 49"/>
          <p:cNvSpPr/>
          <p:nvPr/>
        </p:nvSpPr>
        <p:spPr>
          <a:xfrm>
            <a:off x="809625" y="3676650"/>
            <a:ext cx="57150" cy="661988"/>
          </a:xfrm>
          <a:prstGeom prst="rect">
            <a:avLst/>
          </a:prstGeom>
          <a:solidFill>
            <a:srgbClr val="6D28D9"/>
          </a:solidFill>
          <a:ln/>
        </p:spPr>
      </p:sp>
      <p:sp>
        <p:nvSpPr>
          <p:cNvPr id="52" name="Shape 50"/>
          <p:cNvSpPr/>
          <p:nvPr/>
        </p:nvSpPr>
        <p:spPr>
          <a:xfrm>
            <a:off x="17468850" y="3676650"/>
            <a:ext cx="9525" cy="661988"/>
          </a:xfrm>
          <a:prstGeom prst="rect">
            <a:avLst/>
          </a:prstGeom>
          <a:solidFill>
            <a:srgbClr val="DDD6FE"/>
          </a:solidFill>
          <a:ln/>
        </p:spPr>
      </p:sp>
      <p:sp>
        <p:nvSpPr>
          <p:cNvPr id="53" name="Text 51"/>
          <p:cNvSpPr/>
          <p:nvPr/>
        </p:nvSpPr>
        <p:spPr>
          <a:xfrm>
            <a:off x="1057275" y="3819525"/>
            <a:ext cx="361950" cy="414338"/>
          </a:xfrm>
          <a:prstGeom prst="rect">
            <a:avLst/>
          </a:prstGeom>
          <a:noFill/>
          <a:ln/>
        </p:spPr>
        <p:txBody>
          <a:bodyPr wrap="square" lIns="25400" tIns="25400" rIns="25400" bIns="25400" rtlCol="0" anchor="t">
            <a:normAutofit/>
          </a:bodyPr>
          <a:lstStyle/>
          <a:p>
            <a:pPr marL="0" indent="0" algn="l">
              <a:buNone/>
            </a:pPr>
            <a:r>
              <a:rPr lang="en-US" sz="2250" dirty="0">
                <a:solidFill>
                  <a:srgbClr val="111827"/>
                </a:solidFill>
                <a:latin typeface="Inter" pitchFamily="34" charset="0"/>
                <a:ea typeface="Inter" pitchFamily="34" charset="-122"/>
                <a:cs typeface="Inter" pitchFamily="34" charset="-120"/>
              </a:rPr>
              <a:t>🕐</a:t>
            </a:r>
            <a:endParaRPr lang="en-US" sz="2250" dirty="0"/>
          </a:p>
        </p:txBody>
      </p:sp>
      <p:sp>
        <p:nvSpPr>
          <p:cNvPr id="54" name="Text 52"/>
          <p:cNvSpPr/>
          <p:nvPr/>
        </p:nvSpPr>
        <p:spPr>
          <a:xfrm>
            <a:off x="1495425" y="3781425"/>
            <a:ext cx="13272209" cy="247650"/>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5B21B6"/>
                </a:solidFill>
                <a:latin typeface="Inter" pitchFamily="34" charset="0"/>
                <a:ea typeface="Inter" pitchFamily="34" charset="-122"/>
                <a:cs typeface="Inter" pitchFamily="34" charset="-120"/>
              </a:rPr>
              <a:t>Complete Visibility, Tracking and Monitoring</a:t>
            </a:r>
            <a:endParaRPr lang="en-US" sz="1350" dirty="0"/>
          </a:p>
        </p:txBody>
      </p:sp>
      <p:sp>
        <p:nvSpPr>
          <p:cNvPr id="55" name="Text 53"/>
          <p:cNvSpPr/>
          <p:nvPr/>
        </p:nvSpPr>
        <p:spPr>
          <a:xfrm>
            <a:off x="1495425" y="4019550"/>
            <a:ext cx="13272209" cy="25241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125" dirty="0">
                <a:solidFill>
                  <a:srgbClr val="6B7280"/>
                </a:solidFill>
                <a:latin typeface="Inter" pitchFamily="34" charset="0"/>
                <a:ea typeface="Inter" pitchFamily="34" charset="-122"/>
                <a:cs typeface="Inter" pitchFamily="34" charset="-120"/>
              </a:rPr>
              <a:t>Every consult in the system is visible in real time. Every step is tracked. The moment something falls behind the platform escalates automatically without anyone having to chase it.</a:t>
            </a:r>
            <a:endParaRPr lang="en-US" sz="1125" dirty="0"/>
          </a:p>
        </p:txBody>
      </p:sp>
      <p:sp>
        <p:nvSpPr>
          <p:cNvPr id="56" name="Shape 54"/>
          <p:cNvSpPr/>
          <p:nvPr/>
        </p:nvSpPr>
        <p:spPr>
          <a:xfrm>
            <a:off x="809625" y="4452938"/>
            <a:ext cx="4067175" cy="1928813"/>
          </a:xfrm>
          <a:prstGeom prst="roundRect">
            <a:avLst>
              <a:gd name="adj" fmla="val 4938"/>
            </a:avLst>
          </a:prstGeom>
          <a:solidFill>
            <a:srgbClr val="FAFAFA"/>
          </a:solidFill>
          <a:ln/>
        </p:spPr>
      </p:sp>
      <p:sp>
        <p:nvSpPr>
          <p:cNvPr id="57" name="Shape 55"/>
          <p:cNvSpPr/>
          <p:nvPr/>
        </p:nvSpPr>
        <p:spPr>
          <a:xfrm>
            <a:off x="809625" y="6372225"/>
            <a:ext cx="4067175" cy="9525"/>
          </a:xfrm>
          <a:prstGeom prst="rect">
            <a:avLst/>
          </a:prstGeom>
          <a:solidFill>
            <a:srgbClr val="E5E0D8"/>
          </a:solidFill>
          <a:ln/>
        </p:spPr>
      </p:sp>
      <p:sp>
        <p:nvSpPr>
          <p:cNvPr id="58" name="Shape 56"/>
          <p:cNvSpPr/>
          <p:nvPr/>
        </p:nvSpPr>
        <p:spPr>
          <a:xfrm>
            <a:off x="809625" y="4452938"/>
            <a:ext cx="4067175" cy="38100"/>
          </a:xfrm>
          <a:prstGeom prst="rect">
            <a:avLst/>
          </a:prstGeom>
          <a:solidFill>
            <a:srgbClr val="6D28D9"/>
          </a:solidFill>
          <a:ln/>
        </p:spPr>
      </p:sp>
      <p:sp>
        <p:nvSpPr>
          <p:cNvPr id="59" name="Shape 57"/>
          <p:cNvSpPr/>
          <p:nvPr/>
        </p:nvSpPr>
        <p:spPr>
          <a:xfrm>
            <a:off x="809625" y="4452938"/>
            <a:ext cx="9525" cy="1928813"/>
          </a:xfrm>
          <a:prstGeom prst="rect">
            <a:avLst/>
          </a:prstGeom>
          <a:solidFill>
            <a:srgbClr val="E5E0D8"/>
          </a:solidFill>
          <a:ln/>
        </p:spPr>
      </p:sp>
      <p:sp>
        <p:nvSpPr>
          <p:cNvPr id="60" name="Shape 58"/>
          <p:cNvSpPr/>
          <p:nvPr/>
        </p:nvSpPr>
        <p:spPr>
          <a:xfrm>
            <a:off x="4867275" y="4452938"/>
            <a:ext cx="9525" cy="1928813"/>
          </a:xfrm>
          <a:prstGeom prst="rect">
            <a:avLst/>
          </a:prstGeom>
          <a:solidFill>
            <a:srgbClr val="E5E0D8"/>
          </a:solidFill>
          <a:ln/>
        </p:spPr>
      </p:sp>
      <p:sp>
        <p:nvSpPr>
          <p:cNvPr id="61" name="Text 59"/>
          <p:cNvSpPr/>
          <p:nvPr/>
        </p:nvSpPr>
        <p:spPr>
          <a:xfrm>
            <a:off x="97155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62" name="Text 60"/>
          <p:cNvSpPr/>
          <p:nvPr/>
        </p:nvSpPr>
        <p:spPr>
          <a:xfrm>
            <a:off x="97155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Patient Readiness Check</a:t>
            </a:r>
            <a:endParaRPr lang="en-US" sz="1200" dirty="0"/>
          </a:p>
        </p:txBody>
      </p:sp>
      <p:sp>
        <p:nvSpPr>
          <p:cNvPr id="63" name="Text 61"/>
          <p:cNvSpPr/>
          <p:nvPr/>
        </p:nvSpPr>
        <p:spPr>
          <a:xfrm>
            <a:off x="971550" y="5238750"/>
            <a:ext cx="3855625" cy="838200"/>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Before a consult is created the platform confirms lab results are on file, state coverage is confirmed and the right care program is selected. No provider time is wasted on incomplete cases.</a:t>
            </a:r>
            <a:endParaRPr lang="en-US" sz="1050" dirty="0"/>
          </a:p>
        </p:txBody>
      </p:sp>
      <p:sp>
        <p:nvSpPr>
          <p:cNvPr id="64" name="Shape 62"/>
          <p:cNvSpPr/>
          <p:nvPr/>
        </p:nvSpPr>
        <p:spPr>
          <a:xfrm>
            <a:off x="5010150" y="4452938"/>
            <a:ext cx="4067175" cy="1928813"/>
          </a:xfrm>
          <a:prstGeom prst="roundRect">
            <a:avLst>
              <a:gd name="adj" fmla="val 4938"/>
            </a:avLst>
          </a:prstGeom>
          <a:solidFill>
            <a:srgbClr val="FAFAFA"/>
          </a:solidFill>
          <a:ln/>
        </p:spPr>
      </p:sp>
      <p:sp>
        <p:nvSpPr>
          <p:cNvPr id="65" name="Shape 63"/>
          <p:cNvSpPr/>
          <p:nvPr/>
        </p:nvSpPr>
        <p:spPr>
          <a:xfrm>
            <a:off x="5010150" y="6372225"/>
            <a:ext cx="4067175" cy="9525"/>
          </a:xfrm>
          <a:prstGeom prst="rect">
            <a:avLst/>
          </a:prstGeom>
          <a:solidFill>
            <a:srgbClr val="E5E0D8"/>
          </a:solidFill>
          <a:ln/>
        </p:spPr>
      </p:sp>
      <p:sp>
        <p:nvSpPr>
          <p:cNvPr id="66" name="Shape 64"/>
          <p:cNvSpPr/>
          <p:nvPr/>
        </p:nvSpPr>
        <p:spPr>
          <a:xfrm>
            <a:off x="5010150" y="4452938"/>
            <a:ext cx="4067175" cy="38100"/>
          </a:xfrm>
          <a:prstGeom prst="rect">
            <a:avLst/>
          </a:prstGeom>
          <a:solidFill>
            <a:srgbClr val="6D28D9"/>
          </a:solidFill>
          <a:ln/>
        </p:spPr>
      </p:sp>
      <p:sp>
        <p:nvSpPr>
          <p:cNvPr id="67" name="Shape 65"/>
          <p:cNvSpPr/>
          <p:nvPr/>
        </p:nvSpPr>
        <p:spPr>
          <a:xfrm>
            <a:off x="5010150" y="4452938"/>
            <a:ext cx="9525" cy="1928813"/>
          </a:xfrm>
          <a:prstGeom prst="rect">
            <a:avLst/>
          </a:prstGeom>
          <a:solidFill>
            <a:srgbClr val="E5E0D8"/>
          </a:solidFill>
          <a:ln/>
        </p:spPr>
      </p:sp>
      <p:sp>
        <p:nvSpPr>
          <p:cNvPr id="68" name="Shape 66"/>
          <p:cNvSpPr/>
          <p:nvPr/>
        </p:nvSpPr>
        <p:spPr>
          <a:xfrm>
            <a:off x="9067800" y="4452938"/>
            <a:ext cx="9525" cy="1928813"/>
          </a:xfrm>
          <a:prstGeom prst="rect">
            <a:avLst/>
          </a:prstGeom>
          <a:solidFill>
            <a:srgbClr val="E5E0D8"/>
          </a:solidFill>
          <a:ln/>
        </p:spPr>
      </p:sp>
      <p:sp>
        <p:nvSpPr>
          <p:cNvPr id="69" name="Text 67"/>
          <p:cNvSpPr/>
          <p:nvPr/>
        </p:nvSpPr>
        <p:spPr>
          <a:xfrm>
            <a:off x="517207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0" name="Text 68"/>
          <p:cNvSpPr/>
          <p:nvPr/>
        </p:nvSpPr>
        <p:spPr>
          <a:xfrm>
            <a:off x="517207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Automatic Queue Management</a:t>
            </a:r>
            <a:endParaRPr lang="en-US" sz="1200" dirty="0"/>
          </a:p>
        </p:txBody>
      </p:sp>
      <p:sp>
        <p:nvSpPr>
          <p:cNvPr id="71" name="Text 69"/>
          <p:cNvSpPr/>
          <p:nvPr/>
        </p:nvSpPr>
        <p:spPr>
          <a:xfrm>
            <a:off x="5172075"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The right consult goes to the right team automatically. No coordinator manually assigning work. Staff pull from their own queue when they are ready.</a:t>
            </a:r>
            <a:endParaRPr lang="en-US" sz="1050" dirty="0"/>
          </a:p>
        </p:txBody>
      </p:sp>
      <p:sp>
        <p:nvSpPr>
          <p:cNvPr id="72" name="Shape 70"/>
          <p:cNvSpPr/>
          <p:nvPr/>
        </p:nvSpPr>
        <p:spPr>
          <a:xfrm>
            <a:off x="9210675" y="4452938"/>
            <a:ext cx="4067175" cy="1928813"/>
          </a:xfrm>
          <a:prstGeom prst="roundRect">
            <a:avLst>
              <a:gd name="adj" fmla="val 4938"/>
            </a:avLst>
          </a:prstGeom>
          <a:solidFill>
            <a:srgbClr val="FAFAFA"/>
          </a:solidFill>
          <a:ln/>
        </p:spPr>
      </p:sp>
      <p:sp>
        <p:nvSpPr>
          <p:cNvPr id="73" name="Shape 71"/>
          <p:cNvSpPr/>
          <p:nvPr/>
        </p:nvSpPr>
        <p:spPr>
          <a:xfrm>
            <a:off x="9210675" y="6372225"/>
            <a:ext cx="4067175" cy="9525"/>
          </a:xfrm>
          <a:prstGeom prst="rect">
            <a:avLst/>
          </a:prstGeom>
          <a:solidFill>
            <a:srgbClr val="E5E0D8"/>
          </a:solidFill>
          <a:ln/>
        </p:spPr>
      </p:sp>
      <p:sp>
        <p:nvSpPr>
          <p:cNvPr id="74" name="Shape 72"/>
          <p:cNvSpPr/>
          <p:nvPr/>
        </p:nvSpPr>
        <p:spPr>
          <a:xfrm>
            <a:off x="9210675" y="4452938"/>
            <a:ext cx="4067175" cy="38100"/>
          </a:xfrm>
          <a:prstGeom prst="rect">
            <a:avLst/>
          </a:prstGeom>
          <a:solidFill>
            <a:srgbClr val="6D28D9"/>
          </a:solidFill>
          <a:ln/>
        </p:spPr>
      </p:sp>
      <p:sp>
        <p:nvSpPr>
          <p:cNvPr id="75" name="Shape 73"/>
          <p:cNvSpPr/>
          <p:nvPr/>
        </p:nvSpPr>
        <p:spPr>
          <a:xfrm>
            <a:off x="9210675" y="4452938"/>
            <a:ext cx="9525" cy="1928813"/>
          </a:xfrm>
          <a:prstGeom prst="rect">
            <a:avLst/>
          </a:prstGeom>
          <a:solidFill>
            <a:srgbClr val="E5E0D8"/>
          </a:solidFill>
          <a:ln/>
        </p:spPr>
      </p:sp>
      <p:sp>
        <p:nvSpPr>
          <p:cNvPr id="76" name="Shape 74"/>
          <p:cNvSpPr/>
          <p:nvPr/>
        </p:nvSpPr>
        <p:spPr>
          <a:xfrm>
            <a:off x="13268325" y="4452938"/>
            <a:ext cx="9525" cy="1928813"/>
          </a:xfrm>
          <a:prstGeom prst="rect">
            <a:avLst/>
          </a:prstGeom>
          <a:solidFill>
            <a:srgbClr val="E5E0D8"/>
          </a:solidFill>
          <a:ln/>
        </p:spPr>
      </p:sp>
      <p:sp>
        <p:nvSpPr>
          <p:cNvPr id="77" name="Text 75"/>
          <p:cNvSpPr/>
          <p:nvPr/>
        </p:nvSpPr>
        <p:spPr>
          <a:xfrm>
            <a:off x="9372600"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78" name="Text 76"/>
          <p:cNvSpPr/>
          <p:nvPr/>
        </p:nvSpPr>
        <p:spPr>
          <a:xfrm>
            <a:off x="9372600"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Scheduling Engine</a:t>
            </a:r>
            <a:endParaRPr lang="en-US" sz="1200" dirty="0"/>
          </a:p>
        </p:txBody>
      </p:sp>
      <p:sp>
        <p:nvSpPr>
          <p:cNvPr id="79" name="Text 77"/>
          <p:cNvSpPr/>
          <p:nvPr/>
        </p:nvSpPr>
        <p:spPr>
          <a:xfrm>
            <a:off x="9372600" y="5238750"/>
            <a:ext cx="3855625"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On-demand or pre-scheduled consults with providers who are licensed in the patient's state and available. Scheduling conflicts resolve automatically.</a:t>
            </a:r>
            <a:endParaRPr lang="en-US" sz="1050" dirty="0"/>
          </a:p>
        </p:txBody>
      </p:sp>
      <p:sp>
        <p:nvSpPr>
          <p:cNvPr id="80" name="Shape 78"/>
          <p:cNvSpPr/>
          <p:nvPr/>
        </p:nvSpPr>
        <p:spPr>
          <a:xfrm>
            <a:off x="13411200" y="4452938"/>
            <a:ext cx="4067175" cy="1928813"/>
          </a:xfrm>
          <a:prstGeom prst="roundRect">
            <a:avLst>
              <a:gd name="adj" fmla="val 4938"/>
            </a:avLst>
          </a:prstGeom>
          <a:solidFill>
            <a:srgbClr val="FAFAFA"/>
          </a:solidFill>
          <a:ln/>
        </p:spPr>
      </p:sp>
      <p:sp>
        <p:nvSpPr>
          <p:cNvPr id="81" name="Shape 79"/>
          <p:cNvSpPr/>
          <p:nvPr/>
        </p:nvSpPr>
        <p:spPr>
          <a:xfrm>
            <a:off x="13411200" y="6372225"/>
            <a:ext cx="4067175" cy="9525"/>
          </a:xfrm>
          <a:prstGeom prst="rect">
            <a:avLst/>
          </a:prstGeom>
          <a:solidFill>
            <a:srgbClr val="E5E0D8"/>
          </a:solidFill>
          <a:ln/>
        </p:spPr>
      </p:sp>
      <p:sp>
        <p:nvSpPr>
          <p:cNvPr id="82" name="Shape 80"/>
          <p:cNvSpPr/>
          <p:nvPr/>
        </p:nvSpPr>
        <p:spPr>
          <a:xfrm>
            <a:off x="13411200" y="4452938"/>
            <a:ext cx="4067175" cy="38100"/>
          </a:xfrm>
          <a:prstGeom prst="rect">
            <a:avLst/>
          </a:prstGeom>
          <a:solidFill>
            <a:srgbClr val="6D28D9"/>
          </a:solidFill>
          <a:ln/>
        </p:spPr>
      </p:sp>
      <p:sp>
        <p:nvSpPr>
          <p:cNvPr id="83" name="Shape 81"/>
          <p:cNvSpPr/>
          <p:nvPr/>
        </p:nvSpPr>
        <p:spPr>
          <a:xfrm>
            <a:off x="13411200" y="4452938"/>
            <a:ext cx="9525" cy="1928813"/>
          </a:xfrm>
          <a:prstGeom prst="rect">
            <a:avLst/>
          </a:prstGeom>
          <a:solidFill>
            <a:srgbClr val="E5E0D8"/>
          </a:solidFill>
          <a:ln/>
        </p:spPr>
      </p:sp>
      <p:sp>
        <p:nvSpPr>
          <p:cNvPr id="84" name="Shape 82"/>
          <p:cNvSpPr/>
          <p:nvPr/>
        </p:nvSpPr>
        <p:spPr>
          <a:xfrm>
            <a:off x="17468850" y="4452938"/>
            <a:ext cx="9525" cy="1928813"/>
          </a:xfrm>
          <a:prstGeom prst="rect">
            <a:avLst/>
          </a:prstGeom>
          <a:solidFill>
            <a:srgbClr val="E5E0D8"/>
          </a:solidFill>
          <a:ln/>
        </p:spPr>
      </p:sp>
      <p:sp>
        <p:nvSpPr>
          <p:cNvPr id="85" name="Text 83"/>
          <p:cNvSpPr/>
          <p:nvPr/>
        </p:nvSpPr>
        <p:spPr>
          <a:xfrm>
            <a:off x="13573125" y="4624388"/>
            <a:ext cx="4117658" cy="361950"/>
          </a:xfrm>
          <a:prstGeom prst="rect">
            <a:avLst/>
          </a:prstGeom>
          <a:noFill/>
          <a:ln/>
        </p:spPr>
        <p:txBody>
          <a:bodyPr wrap="square" lIns="25400" tIns="25400" rIns="25400" bIns="25400" rtlCol="0" anchor="t">
            <a:normAutofit/>
          </a:bodyPr>
          <a:lstStyle/>
          <a:p>
            <a:pPr marL="0" indent="0" algn="l">
              <a:buNone/>
            </a:pPr>
            <a:r>
              <a:rPr lang="en-US" sz="1950" dirty="0">
                <a:solidFill>
                  <a:srgbClr val="111827"/>
                </a:solidFill>
                <a:latin typeface="Inter" pitchFamily="34" charset="0"/>
                <a:ea typeface="Inter" pitchFamily="34" charset="-122"/>
                <a:cs typeface="Inter" pitchFamily="34" charset="-120"/>
              </a:rPr>
              <a:t>🔔</a:t>
            </a:r>
            <a:endParaRPr lang="en-US" sz="1950" dirty="0"/>
          </a:p>
        </p:txBody>
      </p:sp>
      <p:sp>
        <p:nvSpPr>
          <p:cNvPr id="86" name="Text 84"/>
          <p:cNvSpPr/>
          <p:nvPr/>
        </p:nvSpPr>
        <p:spPr>
          <a:xfrm>
            <a:off x="13573125" y="5005388"/>
            <a:ext cx="4117658"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Unified Communication and Oversight</a:t>
            </a:r>
            <a:endParaRPr lang="en-US" sz="1200" dirty="0"/>
          </a:p>
        </p:txBody>
      </p:sp>
      <p:sp>
        <p:nvSpPr>
          <p:cNvPr id="87" name="Text 85"/>
          <p:cNvSpPr/>
          <p:nvPr/>
        </p:nvSpPr>
        <p:spPr>
          <a:xfrm>
            <a:off x="13573125" y="5238750"/>
            <a:ext cx="3855625" cy="1038225"/>
          </a:xfrm>
          <a:prstGeom prst="rect">
            <a:avLst/>
          </a:prstGeom>
          <a:noFill/>
          <a:ln/>
        </p:spPr>
        <p:txBody>
          <a:bodyPr wrap="square" lIns="25400" tIns="25400" rIns="25400" bIns="25400" rtlCol="0" anchor="t">
            <a:normAutofit/>
          </a:bodyPr>
          <a:lstStyle/>
          <a:p>
            <a:pPr marL="0" indent="0" algn="l">
              <a:lnSpc>
                <a:spcPct val="150000"/>
              </a:lnSpc>
              <a:buNone/>
            </a:pPr>
            <a:r>
              <a:rPr lang="en-US" sz="1050" dirty="0">
                <a:solidFill>
                  <a:srgbClr val="6B7280"/>
                </a:solidFill>
                <a:latin typeface="Inter" pitchFamily="34" charset="0"/>
                <a:ea typeface="Inter" pitchFamily="34" charset="-122"/>
                <a:cs typeface="Inter" pitchFamily="34" charset="-120"/>
              </a:rPr>
              <a:t>All provider communications and activity across the patient journey are centralized in one place. Issues such as adverse effects are tracked to ensure prompt resolution. The entire care team has full visibility into every active case in real time.</a:t>
            </a:r>
            <a:endParaRPr lang="en-US" sz="1050" dirty="0"/>
          </a:p>
        </p:txBody>
      </p:sp>
      <p:sp>
        <p:nvSpPr>
          <p:cNvPr id="88" name="Text 86"/>
          <p:cNvSpPr/>
          <p:nvPr/>
        </p:nvSpPr>
        <p:spPr>
          <a:xfrm>
            <a:off x="-327660" y="6581775"/>
            <a:ext cx="18943320" cy="20955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89" name="Shape 87"/>
          <p:cNvSpPr/>
          <p:nvPr/>
        </p:nvSpPr>
        <p:spPr>
          <a:xfrm>
            <a:off x="533400" y="6791326"/>
            <a:ext cx="11575628" cy="3295650"/>
          </a:xfrm>
          <a:prstGeom prst="roundRect">
            <a:avLst>
              <a:gd name="adj" fmla="val 4366"/>
            </a:avLst>
          </a:prstGeom>
          <a:solidFill>
            <a:srgbClr val="FFFFFF"/>
          </a:solidFill>
          <a:ln w="19050">
            <a:solidFill>
              <a:srgbClr val="E5E0D8"/>
            </a:solidFill>
            <a:prstDash val="solid"/>
          </a:ln>
        </p:spPr>
      </p:sp>
      <p:sp>
        <p:nvSpPr>
          <p:cNvPr id="90" name="Text 88"/>
          <p:cNvSpPr/>
          <p:nvPr/>
        </p:nvSpPr>
        <p:spPr>
          <a:xfrm>
            <a:off x="781050" y="6962775"/>
            <a:ext cx="12188361"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WHO RECEIVES THE WORK</a:t>
            </a:r>
            <a:endParaRPr lang="en-US" sz="1050" dirty="0"/>
          </a:p>
        </p:txBody>
      </p:sp>
      <p:sp>
        <p:nvSpPr>
          <p:cNvPr id="91" name="Shape 89"/>
          <p:cNvSpPr/>
          <p:nvPr/>
        </p:nvSpPr>
        <p:spPr>
          <a:xfrm>
            <a:off x="781050" y="7472363"/>
            <a:ext cx="3566443" cy="19050"/>
          </a:xfrm>
          <a:prstGeom prst="rect">
            <a:avLst/>
          </a:prstGeom>
          <a:solidFill>
            <a:srgbClr val="E5E0D8"/>
          </a:solidFill>
          <a:ln/>
        </p:spPr>
      </p:sp>
      <p:sp>
        <p:nvSpPr>
          <p:cNvPr id="92" name="Text 90"/>
          <p:cNvSpPr/>
          <p:nvPr/>
        </p:nvSpPr>
        <p:spPr>
          <a:xfrm>
            <a:off x="781050"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Roles</a:t>
            </a:r>
            <a:endParaRPr lang="en-US" sz="1200" dirty="0"/>
          </a:p>
        </p:txBody>
      </p:sp>
      <p:sp>
        <p:nvSpPr>
          <p:cNvPr id="93" name="Shape 91"/>
          <p:cNvSpPr/>
          <p:nvPr/>
        </p:nvSpPr>
        <p:spPr>
          <a:xfrm>
            <a:off x="781050" y="7598048"/>
            <a:ext cx="323850" cy="323850"/>
          </a:xfrm>
          <a:prstGeom prst="ellipse">
            <a:avLst/>
          </a:prstGeom>
          <a:solidFill>
            <a:srgbClr val="6D28D9"/>
          </a:solidFill>
          <a:ln/>
        </p:spPr>
      </p:sp>
      <p:sp>
        <p:nvSpPr>
          <p:cNvPr id="94" name="Text 92"/>
          <p:cNvSpPr/>
          <p:nvPr/>
        </p:nvSpPr>
        <p:spPr>
          <a:xfrm>
            <a:off x="742950"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MD</a:t>
            </a:r>
            <a:endParaRPr lang="en-US" sz="975" dirty="0"/>
          </a:p>
        </p:txBody>
      </p:sp>
      <p:sp>
        <p:nvSpPr>
          <p:cNvPr id="95" name="Text 93"/>
          <p:cNvSpPr/>
          <p:nvPr/>
        </p:nvSpPr>
        <p:spPr>
          <a:xfrm>
            <a:off x="1190625" y="7586663"/>
            <a:ext cx="1957410"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Physician / NP</a:t>
            </a:r>
            <a:endParaRPr lang="en-US" sz="1050" dirty="0"/>
          </a:p>
        </p:txBody>
      </p:sp>
      <p:sp>
        <p:nvSpPr>
          <p:cNvPr id="96" name="Text 94"/>
          <p:cNvSpPr/>
          <p:nvPr/>
        </p:nvSpPr>
        <p:spPr>
          <a:xfrm>
            <a:off x="1190625" y="7764735"/>
            <a:ext cx="18556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Chart, Rx, Lab Auth</a:t>
            </a:r>
            <a:endParaRPr lang="en-US" sz="1050" dirty="0"/>
          </a:p>
        </p:txBody>
      </p:sp>
      <p:sp>
        <p:nvSpPr>
          <p:cNvPr id="97" name="Shape 95"/>
          <p:cNvSpPr/>
          <p:nvPr/>
        </p:nvSpPr>
        <p:spPr>
          <a:xfrm>
            <a:off x="781050" y="8030394"/>
            <a:ext cx="323850" cy="323850"/>
          </a:xfrm>
          <a:prstGeom prst="ellipse">
            <a:avLst/>
          </a:prstGeom>
          <a:solidFill>
            <a:srgbClr val="0F766E"/>
          </a:solidFill>
          <a:ln/>
        </p:spPr>
      </p:sp>
      <p:sp>
        <p:nvSpPr>
          <p:cNvPr id="98" name="Text 96"/>
          <p:cNvSpPr/>
          <p:nvPr/>
        </p:nvSpPr>
        <p:spPr>
          <a:xfrm>
            <a:off x="742950"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t>
            </a:r>
            <a:endParaRPr lang="en-US" sz="975" dirty="0"/>
          </a:p>
        </p:txBody>
      </p:sp>
      <p:sp>
        <p:nvSpPr>
          <p:cNvPr id="99" name="Text 97"/>
          <p:cNvSpPr/>
          <p:nvPr/>
        </p:nvSpPr>
        <p:spPr>
          <a:xfrm>
            <a:off x="1190625" y="8019008"/>
            <a:ext cx="18667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00" name="Text 98"/>
          <p:cNvSpPr/>
          <p:nvPr/>
        </p:nvSpPr>
        <p:spPr>
          <a:xfrm>
            <a:off x="1190625" y="8197081"/>
            <a:ext cx="177321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Pre-consult prep, GC chart</a:t>
            </a:r>
            <a:endParaRPr lang="en-US" sz="1050" dirty="0"/>
          </a:p>
        </p:txBody>
      </p:sp>
      <p:sp>
        <p:nvSpPr>
          <p:cNvPr id="101" name="Shape 99"/>
          <p:cNvSpPr/>
          <p:nvPr/>
        </p:nvSpPr>
        <p:spPr>
          <a:xfrm>
            <a:off x="4537993" y="7472363"/>
            <a:ext cx="3566443" cy="19050"/>
          </a:xfrm>
          <a:prstGeom prst="rect">
            <a:avLst/>
          </a:prstGeom>
          <a:solidFill>
            <a:srgbClr val="E5E0D8"/>
          </a:solidFill>
          <a:ln/>
        </p:spPr>
      </p:sp>
      <p:sp>
        <p:nvSpPr>
          <p:cNvPr id="102" name="Text 100"/>
          <p:cNvSpPr/>
          <p:nvPr/>
        </p:nvSpPr>
        <p:spPr>
          <a:xfrm>
            <a:off x="4537993"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Provider Support Roles</a:t>
            </a:r>
            <a:endParaRPr lang="en-US" sz="1200" dirty="0"/>
          </a:p>
        </p:txBody>
      </p:sp>
      <p:sp>
        <p:nvSpPr>
          <p:cNvPr id="103" name="Shape 101"/>
          <p:cNvSpPr/>
          <p:nvPr/>
        </p:nvSpPr>
        <p:spPr>
          <a:xfrm>
            <a:off x="4537993" y="7598048"/>
            <a:ext cx="323850" cy="323850"/>
          </a:xfrm>
          <a:prstGeom prst="ellipse">
            <a:avLst/>
          </a:prstGeom>
          <a:solidFill>
            <a:srgbClr val="B45309"/>
          </a:solidFill>
          <a:ln/>
        </p:spPr>
      </p:sp>
      <p:sp>
        <p:nvSpPr>
          <p:cNvPr id="104" name="Text 102"/>
          <p:cNvSpPr/>
          <p:nvPr/>
        </p:nvSpPr>
        <p:spPr>
          <a:xfrm>
            <a:off x="4499893" y="7598048"/>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QA</a:t>
            </a:r>
            <a:endParaRPr lang="en-US" sz="975" dirty="0"/>
          </a:p>
        </p:txBody>
      </p:sp>
      <p:sp>
        <p:nvSpPr>
          <p:cNvPr id="105" name="Text 103"/>
          <p:cNvSpPr/>
          <p:nvPr/>
        </p:nvSpPr>
        <p:spPr>
          <a:xfrm>
            <a:off x="4947568" y="7586663"/>
            <a:ext cx="19467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QA Reviewer</a:t>
            </a:r>
            <a:endParaRPr lang="en-US" sz="1050" dirty="0"/>
          </a:p>
        </p:txBody>
      </p:sp>
      <p:sp>
        <p:nvSpPr>
          <p:cNvPr id="106" name="Text 104"/>
          <p:cNvSpPr/>
          <p:nvPr/>
        </p:nvSpPr>
        <p:spPr>
          <a:xfrm>
            <a:off x="4947568" y="7764735"/>
            <a:ext cx="184599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Audit queue, co-sign review</a:t>
            </a:r>
            <a:endParaRPr lang="en-US" sz="1050" dirty="0"/>
          </a:p>
        </p:txBody>
      </p:sp>
      <p:sp>
        <p:nvSpPr>
          <p:cNvPr id="107" name="Shape 105"/>
          <p:cNvSpPr/>
          <p:nvPr/>
        </p:nvSpPr>
        <p:spPr>
          <a:xfrm>
            <a:off x="4537993" y="8011344"/>
            <a:ext cx="323850" cy="323850"/>
          </a:xfrm>
          <a:prstGeom prst="ellipse">
            <a:avLst/>
          </a:prstGeom>
          <a:solidFill>
            <a:srgbClr val="059669"/>
          </a:solidFill>
          <a:ln/>
        </p:spPr>
      </p:sp>
      <p:sp>
        <p:nvSpPr>
          <p:cNvPr id="108" name="Text 106"/>
          <p:cNvSpPr/>
          <p:nvPr/>
        </p:nvSpPr>
        <p:spPr>
          <a:xfrm>
            <a:off x="4499893" y="801134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PS</a:t>
            </a:r>
            <a:endParaRPr lang="en-US" sz="975" dirty="0"/>
          </a:p>
        </p:txBody>
      </p:sp>
      <p:sp>
        <p:nvSpPr>
          <p:cNvPr id="109" name="Text 107"/>
          <p:cNvSpPr/>
          <p:nvPr/>
        </p:nvSpPr>
        <p:spPr>
          <a:xfrm>
            <a:off x="4947568" y="7999958"/>
            <a:ext cx="174409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PSS / PCC</a:t>
            </a:r>
            <a:endParaRPr lang="en-US" sz="1050" dirty="0"/>
          </a:p>
        </p:txBody>
      </p:sp>
      <p:sp>
        <p:nvSpPr>
          <p:cNvPr id="110" name="Text 108"/>
          <p:cNvSpPr/>
          <p:nvPr/>
        </p:nvSpPr>
        <p:spPr>
          <a:xfrm>
            <a:off x="4947568" y="8178031"/>
            <a:ext cx="1661740"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Outbound calls, outreach</a:t>
            </a:r>
            <a:endParaRPr lang="en-US" sz="1050" dirty="0"/>
          </a:p>
        </p:txBody>
      </p:sp>
      <p:sp>
        <p:nvSpPr>
          <p:cNvPr id="111" name="Shape 109"/>
          <p:cNvSpPr/>
          <p:nvPr/>
        </p:nvSpPr>
        <p:spPr>
          <a:xfrm>
            <a:off x="4537993" y="8424639"/>
            <a:ext cx="323850" cy="323850"/>
          </a:xfrm>
          <a:prstGeom prst="ellipse">
            <a:avLst/>
          </a:prstGeom>
          <a:solidFill>
            <a:srgbClr val="DC2626"/>
          </a:solidFill>
          <a:ln/>
        </p:spPr>
      </p:sp>
      <p:sp>
        <p:nvSpPr>
          <p:cNvPr id="112" name="Text 110"/>
          <p:cNvSpPr/>
          <p:nvPr/>
        </p:nvSpPr>
        <p:spPr>
          <a:xfrm>
            <a:off x="4499893" y="8424639"/>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RN</a:t>
            </a:r>
            <a:endParaRPr lang="en-US" sz="975" dirty="0"/>
          </a:p>
        </p:txBody>
      </p:sp>
      <p:sp>
        <p:nvSpPr>
          <p:cNvPr id="113" name="Text 111"/>
          <p:cNvSpPr/>
          <p:nvPr/>
        </p:nvSpPr>
        <p:spPr>
          <a:xfrm>
            <a:off x="4947568" y="8413254"/>
            <a:ext cx="198736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Lead RN</a:t>
            </a:r>
            <a:endParaRPr lang="en-US" sz="1050" dirty="0"/>
          </a:p>
        </p:txBody>
      </p:sp>
      <p:sp>
        <p:nvSpPr>
          <p:cNvPr id="114" name="Text 112"/>
          <p:cNvSpPr/>
          <p:nvPr/>
        </p:nvSpPr>
        <p:spPr>
          <a:xfrm>
            <a:off x="4947568" y="8591327"/>
            <a:ext cx="1882899"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Critical results, titers, on-call</a:t>
            </a:r>
            <a:endParaRPr lang="en-US" sz="1050" dirty="0"/>
          </a:p>
        </p:txBody>
      </p:sp>
      <p:sp>
        <p:nvSpPr>
          <p:cNvPr id="115" name="Shape 113"/>
          <p:cNvSpPr/>
          <p:nvPr/>
        </p:nvSpPr>
        <p:spPr>
          <a:xfrm>
            <a:off x="4537993" y="8837935"/>
            <a:ext cx="323850" cy="323850"/>
          </a:xfrm>
          <a:prstGeom prst="ellipse">
            <a:avLst/>
          </a:prstGeom>
          <a:solidFill>
            <a:srgbClr val="7C3AED"/>
          </a:solidFill>
          <a:ln/>
        </p:spPr>
      </p:sp>
      <p:sp>
        <p:nvSpPr>
          <p:cNvPr id="116" name="Text 114"/>
          <p:cNvSpPr/>
          <p:nvPr/>
        </p:nvSpPr>
        <p:spPr>
          <a:xfrm>
            <a:off x="4499893" y="8837935"/>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MA</a:t>
            </a:r>
            <a:endParaRPr lang="en-US" sz="975" dirty="0"/>
          </a:p>
        </p:txBody>
      </p:sp>
      <p:sp>
        <p:nvSpPr>
          <p:cNvPr id="117" name="Text 115"/>
          <p:cNvSpPr/>
          <p:nvPr/>
        </p:nvSpPr>
        <p:spPr>
          <a:xfrm>
            <a:off x="4947568" y="8826550"/>
            <a:ext cx="1465213"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118" name="Text 116"/>
          <p:cNvSpPr/>
          <p:nvPr/>
        </p:nvSpPr>
        <p:spPr>
          <a:xfrm>
            <a:off x="4947568" y="9004622"/>
            <a:ext cx="1408212"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queue, referrals</a:t>
            </a:r>
            <a:endParaRPr lang="en-US" sz="1050" dirty="0"/>
          </a:p>
        </p:txBody>
      </p:sp>
      <p:sp>
        <p:nvSpPr>
          <p:cNvPr id="119" name="Shape 117"/>
          <p:cNvSpPr/>
          <p:nvPr/>
        </p:nvSpPr>
        <p:spPr>
          <a:xfrm>
            <a:off x="4537993" y="9251231"/>
            <a:ext cx="323850" cy="323850"/>
          </a:xfrm>
          <a:prstGeom prst="ellipse">
            <a:avLst/>
          </a:prstGeom>
          <a:solidFill>
            <a:srgbClr val="0369A1"/>
          </a:solidFill>
          <a:ln/>
        </p:spPr>
      </p:sp>
      <p:sp>
        <p:nvSpPr>
          <p:cNvPr id="120" name="Text 118"/>
          <p:cNvSpPr/>
          <p:nvPr/>
        </p:nvSpPr>
        <p:spPr>
          <a:xfrm>
            <a:off x="4499893" y="9251231"/>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CT</a:t>
            </a:r>
            <a:endParaRPr lang="en-US" sz="975" dirty="0"/>
          </a:p>
        </p:txBody>
      </p:sp>
      <p:sp>
        <p:nvSpPr>
          <p:cNvPr id="121" name="Text 119"/>
          <p:cNvSpPr/>
          <p:nvPr/>
        </p:nvSpPr>
        <p:spPr>
          <a:xfrm>
            <a:off x="4947568" y="9239845"/>
            <a:ext cx="119486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Care Coordinator</a:t>
            </a:r>
            <a:endParaRPr lang="en-US" sz="1050" dirty="0"/>
          </a:p>
        </p:txBody>
      </p:sp>
      <p:sp>
        <p:nvSpPr>
          <p:cNvPr id="122" name="Text 120"/>
          <p:cNvSpPr/>
          <p:nvPr/>
        </p:nvSpPr>
        <p:spPr>
          <a:xfrm>
            <a:off x="4947568" y="9417918"/>
            <a:ext cx="1194867"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Task coordination</a:t>
            </a:r>
            <a:endParaRPr lang="en-US" sz="1050" dirty="0"/>
          </a:p>
        </p:txBody>
      </p:sp>
      <p:sp>
        <p:nvSpPr>
          <p:cNvPr id="123" name="Shape 121"/>
          <p:cNvSpPr/>
          <p:nvPr/>
        </p:nvSpPr>
        <p:spPr>
          <a:xfrm>
            <a:off x="4537993" y="9664526"/>
            <a:ext cx="323850" cy="323850"/>
          </a:xfrm>
          <a:prstGeom prst="ellipse">
            <a:avLst/>
          </a:prstGeom>
          <a:solidFill>
            <a:srgbClr val="D97706"/>
          </a:solidFill>
          <a:ln/>
        </p:spPr>
      </p:sp>
      <p:sp>
        <p:nvSpPr>
          <p:cNvPr id="124" name="Text 122"/>
          <p:cNvSpPr/>
          <p:nvPr/>
        </p:nvSpPr>
        <p:spPr>
          <a:xfrm>
            <a:off x="4499893" y="9664526"/>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GCA</a:t>
            </a:r>
            <a:endParaRPr lang="en-US" sz="975" dirty="0"/>
          </a:p>
        </p:txBody>
      </p:sp>
      <p:sp>
        <p:nvSpPr>
          <p:cNvPr id="125" name="Text 123"/>
          <p:cNvSpPr/>
          <p:nvPr/>
        </p:nvSpPr>
        <p:spPr>
          <a:xfrm>
            <a:off x="4947568" y="9653141"/>
            <a:ext cx="1885868"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GC Administrator</a:t>
            </a:r>
            <a:endParaRPr lang="en-US" sz="1050" dirty="0"/>
          </a:p>
        </p:txBody>
      </p:sp>
      <p:sp>
        <p:nvSpPr>
          <p:cNvPr id="126" name="Text 124"/>
          <p:cNvSpPr/>
          <p:nvPr/>
        </p:nvSpPr>
        <p:spPr>
          <a:xfrm>
            <a:off x="4947568" y="9831214"/>
            <a:ext cx="179062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Consult prep, report orders</a:t>
            </a:r>
            <a:endParaRPr lang="en-US" sz="1050" dirty="0"/>
          </a:p>
        </p:txBody>
      </p:sp>
      <p:sp>
        <p:nvSpPr>
          <p:cNvPr id="127" name="Shape 125"/>
          <p:cNvSpPr/>
          <p:nvPr/>
        </p:nvSpPr>
        <p:spPr>
          <a:xfrm>
            <a:off x="8294936" y="7472363"/>
            <a:ext cx="3566443" cy="19050"/>
          </a:xfrm>
          <a:prstGeom prst="rect">
            <a:avLst/>
          </a:prstGeom>
          <a:solidFill>
            <a:srgbClr val="E5E0D8"/>
          </a:solidFill>
          <a:ln/>
        </p:spPr>
      </p:sp>
      <p:sp>
        <p:nvSpPr>
          <p:cNvPr id="128" name="Text 126"/>
          <p:cNvSpPr/>
          <p:nvPr/>
        </p:nvSpPr>
        <p:spPr>
          <a:xfrm>
            <a:off x="8294936" y="7219950"/>
            <a:ext cx="3673436" cy="223838"/>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111827"/>
                </a:solidFill>
                <a:latin typeface="Inter" pitchFamily="34" charset="0"/>
                <a:ea typeface="Inter" pitchFamily="34" charset="-122"/>
                <a:cs typeface="Inter" pitchFamily="34" charset="-120"/>
              </a:rPr>
              <a:t>Operations</a:t>
            </a:r>
            <a:endParaRPr lang="en-US" sz="1200" dirty="0"/>
          </a:p>
        </p:txBody>
      </p:sp>
      <p:sp>
        <p:nvSpPr>
          <p:cNvPr id="129" name="Shape 127"/>
          <p:cNvSpPr/>
          <p:nvPr/>
        </p:nvSpPr>
        <p:spPr>
          <a:xfrm>
            <a:off x="8294936" y="7598048"/>
            <a:ext cx="323850" cy="323850"/>
          </a:xfrm>
          <a:prstGeom prst="ellipse">
            <a:avLst/>
          </a:prstGeom>
          <a:solidFill>
            <a:srgbClr val="374151"/>
          </a:solidFill>
          <a:ln/>
        </p:spPr>
      </p:sp>
      <p:sp>
        <p:nvSpPr>
          <p:cNvPr id="130" name="Text 128"/>
          <p:cNvSpPr/>
          <p:nvPr/>
        </p:nvSpPr>
        <p:spPr>
          <a:xfrm>
            <a:off x="8256836" y="7598048"/>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ADM</a:t>
            </a:r>
            <a:endParaRPr lang="en-US" sz="900" dirty="0"/>
          </a:p>
        </p:txBody>
      </p:sp>
      <p:sp>
        <p:nvSpPr>
          <p:cNvPr id="131" name="Text 129"/>
          <p:cNvSpPr/>
          <p:nvPr/>
        </p:nvSpPr>
        <p:spPr>
          <a:xfrm>
            <a:off x="8704511" y="7586663"/>
            <a:ext cx="2071107"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Admin Portal</a:t>
            </a:r>
            <a:endParaRPr lang="en-US" sz="1050" dirty="0"/>
          </a:p>
        </p:txBody>
      </p:sp>
      <p:sp>
        <p:nvSpPr>
          <p:cNvPr id="132" name="Text 130"/>
          <p:cNvSpPr/>
          <p:nvPr/>
        </p:nvSpPr>
        <p:spPr>
          <a:xfrm>
            <a:off x="8704511" y="7764735"/>
            <a:ext cx="1959025"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Config, oversight, compliance</a:t>
            </a:r>
            <a:endParaRPr lang="en-US" sz="1050" dirty="0"/>
          </a:p>
        </p:txBody>
      </p:sp>
      <p:sp>
        <p:nvSpPr>
          <p:cNvPr id="133" name="Shape 131"/>
          <p:cNvSpPr/>
          <p:nvPr/>
        </p:nvSpPr>
        <p:spPr>
          <a:xfrm>
            <a:off x="8294936" y="8030394"/>
            <a:ext cx="323850" cy="323850"/>
          </a:xfrm>
          <a:prstGeom prst="ellipse">
            <a:avLst/>
          </a:prstGeom>
          <a:solidFill>
            <a:srgbClr val="1D4ED8"/>
          </a:solidFill>
          <a:ln/>
        </p:spPr>
      </p:sp>
      <p:sp>
        <p:nvSpPr>
          <p:cNvPr id="134" name="Text 132"/>
          <p:cNvSpPr/>
          <p:nvPr/>
        </p:nvSpPr>
        <p:spPr>
          <a:xfrm>
            <a:off x="8256836" y="8030394"/>
            <a:ext cx="400050" cy="361950"/>
          </a:xfrm>
          <a:prstGeom prst="rect">
            <a:avLst/>
          </a:prstGeom>
          <a:noFill/>
          <a:ln/>
        </p:spPr>
        <p:txBody>
          <a:bodyPr wrap="square" lIns="25400" tIns="25400" rIns="25400" bIns="25400" rtlCol="0" anchor="ctr">
            <a:normAutofit/>
          </a:bodyPr>
          <a:lstStyle/>
          <a:p>
            <a:pPr marL="0" indent="0" algn="ctr">
              <a:buNone/>
            </a:pPr>
            <a:r>
              <a:rPr lang="en-US" sz="975" b="1" dirty="0">
                <a:solidFill>
                  <a:srgbClr val="FFFFFF"/>
                </a:solidFill>
                <a:latin typeface="Inter" pitchFamily="34" charset="0"/>
                <a:ea typeface="Inter" pitchFamily="34" charset="-122"/>
                <a:cs typeface="Inter" pitchFamily="34" charset="-120"/>
              </a:rPr>
              <a:t>SCH</a:t>
            </a:r>
            <a:endParaRPr lang="en-US" sz="975" dirty="0"/>
          </a:p>
        </p:txBody>
      </p:sp>
      <p:sp>
        <p:nvSpPr>
          <p:cNvPr id="135" name="Text 133"/>
          <p:cNvSpPr/>
          <p:nvPr/>
        </p:nvSpPr>
        <p:spPr>
          <a:xfrm>
            <a:off x="8704511" y="8019008"/>
            <a:ext cx="1388514"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Scheduler</a:t>
            </a:r>
            <a:endParaRPr lang="en-US" sz="1050" dirty="0"/>
          </a:p>
        </p:txBody>
      </p:sp>
      <p:sp>
        <p:nvSpPr>
          <p:cNvPr id="136" name="Text 134"/>
          <p:cNvSpPr/>
          <p:nvPr/>
        </p:nvSpPr>
        <p:spPr>
          <a:xfrm>
            <a:off x="8704511" y="8197081"/>
            <a:ext cx="1338486"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Network scheduling</a:t>
            </a:r>
            <a:endParaRPr lang="en-US" sz="1050" dirty="0"/>
          </a:p>
        </p:txBody>
      </p:sp>
      <p:sp>
        <p:nvSpPr>
          <p:cNvPr id="137" name="Shape 135"/>
          <p:cNvSpPr/>
          <p:nvPr/>
        </p:nvSpPr>
        <p:spPr>
          <a:xfrm>
            <a:off x="8294936" y="8462739"/>
            <a:ext cx="323850" cy="323850"/>
          </a:xfrm>
          <a:prstGeom prst="ellipse">
            <a:avLst/>
          </a:prstGeom>
          <a:solidFill>
            <a:srgbClr val="0F766E"/>
          </a:solidFill>
          <a:ln/>
        </p:spPr>
      </p:sp>
      <p:sp>
        <p:nvSpPr>
          <p:cNvPr id="138" name="Text 136"/>
          <p:cNvSpPr/>
          <p:nvPr/>
        </p:nvSpPr>
        <p:spPr>
          <a:xfrm>
            <a:off x="8256836" y="8462739"/>
            <a:ext cx="400050" cy="361950"/>
          </a:xfrm>
          <a:prstGeom prst="rect">
            <a:avLst/>
          </a:prstGeom>
          <a:noFill/>
          <a:ln/>
        </p:spPr>
        <p:txBody>
          <a:bodyPr wrap="square" lIns="25400" tIns="25400" rIns="25400" bIns="25400" rtlCol="0" anchor="ctr">
            <a:normAutofit/>
          </a:bodyPr>
          <a:lstStyle/>
          <a:p>
            <a:pPr marL="0" indent="0" algn="ctr">
              <a:buNone/>
            </a:pPr>
            <a:r>
              <a:rPr lang="en-US" sz="900" b="1" dirty="0">
                <a:solidFill>
                  <a:srgbClr val="FFFFFF"/>
                </a:solidFill>
                <a:latin typeface="Inter" pitchFamily="34" charset="0"/>
                <a:ea typeface="Inter" pitchFamily="34" charset="-122"/>
                <a:cs typeface="Inter" pitchFamily="34" charset="-120"/>
              </a:rPr>
              <a:t>DOH</a:t>
            </a:r>
            <a:endParaRPr lang="en-US" sz="900" dirty="0"/>
          </a:p>
        </p:txBody>
      </p:sp>
      <p:sp>
        <p:nvSpPr>
          <p:cNvPr id="139" name="Text 137"/>
          <p:cNvSpPr/>
          <p:nvPr/>
        </p:nvSpPr>
        <p:spPr>
          <a:xfrm>
            <a:off x="8704511" y="8451354"/>
            <a:ext cx="1964449" cy="21141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050" b="1" dirty="0">
                <a:solidFill>
                  <a:srgbClr val="111827"/>
                </a:solidFill>
                <a:latin typeface="Inter" pitchFamily="34" charset="0"/>
                <a:ea typeface="Inter" pitchFamily="34" charset="-122"/>
                <a:cs typeface="Inter" pitchFamily="34" charset="-120"/>
              </a:rPr>
              <a:t>DOH Reporting</a:t>
            </a:r>
            <a:endParaRPr lang="en-US" sz="1050" dirty="0"/>
          </a:p>
        </p:txBody>
      </p:sp>
      <p:sp>
        <p:nvSpPr>
          <p:cNvPr id="140" name="Text 138"/>
          <p:cNvSpPr/>
          <p:nvPr/>
        </p:nvSpPr>
        <p:spPr>
          <a:xfrm>
            <a:off x="8704511" y="8629427"/>
            <a:ext cx="1862063" cy="200025"/>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374151"/>
                </a:solidFill>
                <a:latin typeface="Inter" pitchFamily="34" charset="0"/>
                <a:ea typeface="Inter" pitchFamily="34" charset="-122"/>
                <a:cs typeface="Inter" pitchFamily="34" charset="-120"/>
              </a:rPr>
              <a:t>State public health reporting</a:t>
            </a:r>
            <a:endParaRPr lang="en-US" sz="1050" dirty="0"/>
          </a:p>
        </p:txBody>
      </p:sp>
      <p:sp>
        <p:nvSpPr>
          <p:cNvPr id="141" name="Shape 139"/>
          <p:cNvSpPr/>
          <p:nvPr/>
        </p:nvSpPr>
        <p:spPr>
          <a:xfrm>
            <a:off x="12242378" y="6791326"/>
            <a:ext cx="5512222" cy="3295650"/>
          </a:xfrm>
          <a:prstGeom prst="roundRect">
            <a:avLst>
              <a:gd name="adj" fmla="val 4366"/>
            </a:avLst>
          </a:prstGeom>
          <a:solidFill>
            <a:srgbClr val="F3F0EB"/>
          </a:solidFill>
          <a:ln w="19050">
            <a:solidFill>
              <a:srgbClr val="E5E0D8"/>
            </a:solidFill>
            <a:prstDash val="solid"/>
          </a:ln>
        </p:spPr>
      </p:sp>
      <p:sp>
        <p:nvSpPr>
          <p:cNvPr id="142" name="Text 140"/>
          <p:cNvSpPr/>
          <p:nvPr/>
        </p:nvSpPr>
        <p:spPr>
          <a:xfrm>
            <a:off x="12451928" y="6962775"/>
            <a:ext cx="5602434"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05" dirty="0">
                <a:solidFill>
                  <a:srgbClr val="9CA3AF"/>
                </a:solidFill>
                <a:latin typeface="Inter" pitchFamily="34" charset="0"/>
                <a:ea typeface="Inter" pitchFamily="34" charset="-122"/>
                <a:cs typeface="Inter" pitchFamily="34" charset="-120"/>
              </a:rPr>
              <a:t>CONNECTED SYSTEMS</a:t>
            </a:r>
            <a:endParaRPr lang="en-US" sz="1050" dirty="0"/>
          </a:p>
        </p:txBody>
      </p:sp>
      <p:sp>
        <p:nvSpPr>
          <p:cNvPr id="143" name="Shape 141"/>
          <p:cNvSpPr/>
          <p:nvPr/>
        </p:nvSpPr>
        <p:spPr>
          <a:xfrm>
            <a:off x="12451928" y="7139940"/>
            <a:ext cx="5093122" cy="509587"/>
          </a:xfrm>
          <a:prstGeom prst="roundRect">
            <a:avLst>
              <a:gd name="adj" fmla="val 18692"/>
            </a:avLst>
          </a:prstGeom>
          <a:solidFill>
            <a:srgbClr val="FFFFFF"/>
          </a:solidFill>
          <a:ln w="9525">
            <a:solidFill>
              <a:srgbClr val="E5E0D8"/>
            </a:solidFill>
            <a:prstDash val="solid"/>
          </a:ln>
        </p:spPr>
      </p:sp>
      <p:sp>
        <p:nvSpPr>
          <p:cNvPr id="144" name="Shape 142"/>
          <p:cNvSpPr/>
          <p:nvPr/>
        </p:nvSpPr>
        <p:spPr>
          <a:xfrm>
            <a:off x="12594803" y="7342346"/>
            <a:ext cx="104775" cy="104775"/>
          </a:xfrm>
          <a:prstGeom prst="ellipse">
            <a:avLst/>
          </a:prstGeom>
          <a:solidFill>
            <a:srgbClr val="6D28D9"/>
          </a:solidFill>
          <a:ln/>
        </p:spPr>
      </p:sp>
      <p:sp>
        <p:nvSpPr>
          <p:cNvPr id="145" name="Text 143"/>
          <p:cNvSpPr/>
          <p:nvPr/>
        </p:nvSpPr>
        <p:spPr>
          <a:xfrm>
            <a:off x="12794828" y="7235190"/>
            <a:ext cx="135511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Athena Health</a:t>
            </a:r>
            <a:endParaRPr lang="en-US" sz="1125" dirty="0"/>
          </a:p>
        </p:txBody>
      </p:sp>
      <p:sp>
        <p:nvSpPr>
          <p:cNvPr id="146" name="Text 144"/>
          <p:cNvSpPr/>
          <p:nvPr/>
        </p:nvSpPr>
        <p:spPr>
          <a:xfrm>
            <a:off x="12794828" y="7406640"/>
            <a:ext cx="1355117"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EHR · Billing · Clinical</a:t>
            </a:r>
            <a:endParaRPr lang="en-US" sz="975" dirty="0"/>
          </a:p>
        </p:txBody>
      </p:sp>
      <p:sp>
        <p:nvSpPr>
          <p:cNvPr id="147" name="Shape 145"/>
          <p:cNvSpPr/>
          <p:nvPr/>
        </p:nvSpPr>
        <p:spPr>
          <a:xfrm>
            <a:off x="12451928" y="7735253"/>
            <a:ext cx="5093122" cy="509587"/>
          </a:xfrm>
          <a:prstGeom prst="roundRect">
            <a:avLst>
              <a:gd name="adj" fmla="val 18692"/>
            </a:avLst>
          </a:prstGeom>
          <a:solidFill>
            <a:srgbClr val="FFFFFF"/>
          </a:solidFill>
          <a:ln w="9525">
            <a:solidFill>
              <a:srgbClr val="E5E0D8"/>
            </a:solidFill>
            <a:prstDash val="solid"/>
          </a:ln>
        </p:spPr>
      </p:sp>
      <p:sp>
        <p:nvSpPr>
          <p:cNvPr id="148" name="Shape 146"/>
          <p:cNvSpPr/>
          <p:nvPr/>
        </p:nvSpPr>
        <p:spPr>
          <a:xfrm>
            <a:off x="12594803" y="7937659"/>
            <a:ext cx="104775" cy="104775"/>
          </a:xfrm>
          <a:prstGeom prst="ellipse">
            <a:avLst/>
          </a:prstGeom>
          <a:solidFill>
            <a:srgbClr val="059669"/>
          </a:solidFill>
          <a:ln/>
        </p:spPr>
      </p:sp>
      <p:sp>
        <p:nvSpPr>
          <p:cNvPr id="149" name="Text 147"/>
          <p:cNvSpPr/>
          <p:nvPr/>
        </p:nvSpPr>
        <p:spPr>
          <a:xfrm>
            <a:off x="12794828" y="7830502"/>
            <a:ext cx="15786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Verify</a:t>
            </a:r>
            <a:endParaRPr lang="en-US" sz="1125" dirty="0"/>
          </a:p>
        </p:txBody>
      </p:sp>
      <p:sp>
        <p:nvSpPr>
          <p:cNvPr id="150" name="Text 148"/>
          <p:cNvSpPr/>
          <p:nvPr/>
        </p:nvSpPr>
        <p:spPr>
          <a:xfrm>
            <a:off x="12794828" y="8001952"/>
            <a:ext cx="1578665"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Provider Source of Truth</a:t>
            </a:r>
            <a:endParaRPr lang="en-US" sz="975" dirty="0"/>
          </a:p>
        </p:txBody>
      </p:sp>
      <p:sp>
        <p:nvSpPr>
          <p:cNvPr id="151" name="Shape 149"/>
          <p:cNvSpPr/>
          <p:nvPr/>
        </p:nvSpPr>
        <p:spPr>
          <a:xfrm>
            <a:off x="12451928" y="8330565"/>
            <a:ext cx="5093122" cy="509587"/>
          </a:xfrm>
          <a:prstGeom prst="roundRect">
            <a:avLst>
              <a:gd name="adj" fmla="val 18692"/>
            </a:avLst>
          </a:prstGeom>
          <a:solidFill>
            <a:srgbClr val="FFFFFF"/>
          </a:solidFill>
          <a:ln w="9525">
            <a:solidFill>
              <a:srgbClr val="E5E0D8"/>
            </a:solidFill>
            <a:prstDash val="solid"/>
          </a:ln>
        </p:spPr>
      </p:sp>
      <p:sp>
        <p:nvSpPr>
          <p:cNvPr id="152" name="Shape 150"/>
          <p:cNvSpPr/>
          <p:nvPr/>
        </p:nvSpPr>
        <p:spPr>
          <a:xfrm>
            <a:off x="12594803" y="8532971"/>
            <a:ext cx="104775" cy="104775"/>
          </a:xfrm>
          <a:prstGeom prst="ellipse">
            <a:avLst/>
          </a:prstGeom>
          <a:solidFill>
            <a:srgbClr val="D97706"/>
          </a:solidFill>
          <a:ln/>
        </p:spPr>
      </p:sp>
      <p:sp>
        <p:nvSpPr>
          <p:cNvPr id="153" name="Text 151"/>
          <p:cNvSpPr/>
          <p:nvPr/>
        </p:nvSpPr>
        <p:spPr>
          <a:xfrm>
            <a:off x="12794828" y="8425815"/>
            <a:ext cx="2301121"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Zendesk</a:t>
            </a:r>
            <a:endParaRPr lang="en-US" sz="1125" dirty="0"/>
          </a:p>
        </p:txBody>
      </p:sp>
      <p:sp>
        <p:nvSpPr>
          <p:cNvPr id="154" name="Text 152"/>
          <p:cNvSpPr/>
          <p:nvPr/>
        </p:nvSpPr>
        <p:spPr>
          <a:xfrm>
            <a:off x="12794828" y="8597265"/>
            <a:ext cx="2301121"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PSS Outbound · Phase 1 Scheduling</a:t>
            </a:r>
            <a:endParaRPr lang="en-US" sz="975" dirty="0"/>
          </a:p>
        </p:txBody>
      </p:sp>
      <p:sp>
        <p:nvSpPr>
          <p:cNvPr id="155" name="Shape 153"/>
          <p:cNvSpPr/>
          <p:nvPr/>
        </p:nvSpPr>
        <p:spPr>
          <a:xfrm>
            <a:off x="12451928" y="8925878"/>
            <a:ext cx="5093122" cy="509587"/>
          </a:xfrm>
          <a:prstGeom prst="roundRect">
            <a:avLst>
              <a:gd name="adj" fmla="val 18692"/>
            </a:avLst>
          </a:prstGeom>
          <a:solidFill>
            <a:srgbClr val="FFFFFF"/>
          </a:solidFill>
          <a:ln w="9525">
            <a:solidFill>
              <a:srgbClr val="E5E0D8"/>
            </a:solidFill>
            <a:prstDash val="solid"/>
          </a:ln>
        </p:spPr>
      </p:sp>
      <p:sp>
        <p:nvSpPr>
          <p:cNvPr id="156" name="Shape 154"/>
          <p:cNvSpPr/>
          <p:nvPr/>
        </p:nvSpPr>
        <p:spPr>
          <a:xfrm>
            <a:off x="12594803" y="9128284"/>
            <a:ext cx="104775" cy="104775"/>
          </a:xfrm>
          <a:prstGeom prst="ellipse">
            <a:avLst/>
          </a:prstGeom>
          <a:solidFill>
            <a:srgbClr val="0369A1"/>
          </a:solidFill>
          <a:ln/>
        </p:spPr>
      </p:sp>
      <p:sp>
        <p:nvSpPr>
          <p:cNvPr id="157" name="Text 155"/>
          <p:cNvSpPr/>
          <p:nvPr/>
        </p:nvSpPr>
        <p:spPr>
          <a:xfrm>
            <a:off x="12794828" y="9021128"/>
            <a:ext cx="76311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74151"/>
                </a:solidFill>
                <a:latin typeface="Inter" pitchFamily="34" charset="0"/>
                <a:ea typeface="Inter" pitchFamily="34" charset="-122"/>
                <a:cs typeface="Inter" pitchFamily="34" charset="-120"/>
              </a:rPr>
              <a:t>DoseSpot</a:t>
            </a:r>
            <a:endParaRPr lang="en-US" sz="1125" dirty="0"/>
          </a:p>
        </p:txBody>
      </p:sp>
      <p:sp>
        <p:nvSpPr>
          <p:cNvPr id="158" name="Text 156"/>
          <p:cNvSpPr/>
          <p:nvPr/>
        </p:nvSpPr>
        <p:spPr>
          <a:xfrm>
            <a:off x="12794828" y="9192578"/>
            <a:ext cx="76311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a:t>
            </a:r>
            <a:endParaRPr lang="en-US" sz="975" dirty="0"/>
          </a:p>
        </p:txBody>
      </p:sp>
      <p:sp>
        <p:nvSpPr>
          <p:cNvPr id="159" name="Shape 157"/>
          <p:cNvSpPr/>
          <p:nvPr/>
        </p:nvSpPr>
        <p:spPr>
          <a:xfrm>
            <a:off x="12451928" y="9521190"/>
            <a:ext cx="5093122" cy="509587"/>
          </a:xfrm>
          <a:prstGeom prst="roundRect">
            <a:avLst>
              <a:gd name="adj" fmla="val 18692"/>
            </a:avLst>
          </a:prstGeom>
          <a:solidFill>
            <a:srgbClr val="FFFBEB"/>
          </a:solidFill>
          <a:ln w="9525">
            <a:solidFill>
              <a:srgbClr val="FCD34D"/>
            </a:solidFill>
            <a:prstDash val="dash"/>
          </a:ln>
        </p:spPr>
      </p:sp>
      <p:sp>
        <p:nvSpPr>
          <p:cNvPr id="160" name="Shape 158"/>
          <p:cNvSpPr/>
          <p:nvPr/>
        </p:nvSpPr>
        <p:spPr>
          <a:xfrm>
            <a:off x="12594803" y="9723596"/>
            <a:ext cx="104775" cy="104775"/>
          </a:xfrm>
          <a:prstGeom prst="ellipse">
            <a:avLst/>
          </a:prstGeom>
          <a:solidFill>
            <a:srgbClr val="D97706"/>
          </a:solidFill>
          <a:ln/>
        </p:spPr>
      </p:sp>
      <p:sp>
        <p:nvSpPr>
          <p:cNvPr id="161" name="Text 159"/>
          <p:cNvSpPr/>
          <p:nvPr/>
        </p:nvSpPr>
        <p:spPr>
          <a:xfrm>
            <a:off x="12794828" y="9616440"/>
            <a:ext cx="2396646"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92400E"/>
                </a:solidFill>
                <a:latin typeface="Inter" pitchFamily="34" charset="0"/>
                <a:ea typeface="Inter" pitchFamily="34" charset="-122"/>
                <a:cs typeface="Inter" pitchFamily="34" charset="-120"/>
              </a:rPr>
              <a:t>Surescripts </a:t>
            </a:r>
            <a:r>
              <a:rPr lang="en-US" sz="900" b="1" dirty="0">
                <a:solidFill>
                  <a:srgbClr val="92400E"/>
                </a:solidFill>
                <a:highlight>
                  <a:srgbClr val="FEF3C7"/>
                </a:highlight>
                <a:latin typeface="Inter" pitchFamily="34" charset="0"/>
                <a:ea typeface="Inter" pitchFamily="34" charset="-122"/>
                <a:cs typeface="Inter" pitchFamily="34" charset="-120"/>
              </a:rPr>
              <a:t>Future State</a:t>
            </a:r>
            <a:endParaRPr lang="en-US" sz="1125" dirty="0"/>
          </a:p>
        </p:txBody>
      </p:sp>
      <p:sp>
        <p:nvSpPr>
          <p:cNvPr id="162" name="Text 160"/>
          <p:cNvSpPr/>
          <p:nvPr/>
        </p:nvSpPr>
        <p:spPr>
          <a:xfrm>
            <a:off x="12794828" y="9787890"/>
            <a:ext cx="2396646" cy="185738"/>
          </a:xfrm>
          <a:prstGeom prst="rect">
            <a:avLst/>
          </a:prstGeom>
          <a:noFill/>
          <a:ln/>
        </p:spPr>
        <p:txBody>
          <a:bodyPr wrap="square" lIns="25400" tIns="25400" rIns="25400" bIns="25400" rtlCol="0" anchor="t">
            <a:normAutofit lnSpcReduction="10000"/>
          </a:bodyPr>
          <a:lstStyle/>
          <a:p>
            <a:pPr marL="0" indent="0" algn="l">
              <a:buNone/>
            </a:pPr>
            <a:r>
              <a:rPr lang="en-US" sz="975" dirty="0">
                <a:solidFill>
                  <a:srgbClr val="9CA3AF"/>
                </a:solidFill>
                <a:latin typeface="Inter" pitchFamily="34" charset="0"/>
                <a:ea typeface="Inter" pitchFamily="34" charset="-122"/>
                <a:cs typeface="Inter" pitchFamily="34" charset="-120"/>
              </a:rPr>
              <a:t>e-Prescribe transition from DoseSpot</a:t>
            </a:r>
            <a:endParaRPr lang="en-US" sz="975" dirty="0"/>
          </a:p>
        </p:txBody>
      </p:sp>
    </p:spTree>
    <p:extLst>
      <p:ext uri="{BB962C8B-B14F-4D97-AF65-F5344CB8AC3E}">
        <p14:creationId xmlns:p14="http://schemas.microsoft.com/office/powerpoint/2010/main" val="3407967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F0"/>
        </a:solidFill>
        <a:effectLst/>
      </p:bgPr>
    </p:bg>
    <p:spTree>
      <p:nvGrpSpPr>
        <p:cNvPr id="1" name=""/>
        <p:cNvGrpSpPr/>
        <p:nvPr/>
      </p:nvGrpSpPr>
      <p:grpSpPr>
        <a:xfrm>
          <a:off x="0" y="0"/>
          <a:ext cx="0" cy="0"/>
          <a:chOff x="0" y="0"/>
          <a:chExt cx="0" cy="0"/>
        </a:xfrm>
      </p:grpSpPr>
      <p:sp>
        <p:nvSpPr>
          <p:cNvPr id="2" name="Text 0"/>
          <p:cNvSpPr/>
          <p:nvPr/>
        </p:nvSpPr>
        <p:spPr>
          <a:xfrm>
            <a:off x="-327660" y="247650"/>
            <a:ext cx="18943320" cy="428625"/>
          </a:xfrm>
          <a:prstGeom prst="rect">
            <a:avLst/>
          </a:prstGeom>
          <a:noFill/>
          <a:ln/>
        </p:spPr>
        <p:txBody>
          <a:bodyPr wrap="square" lIns="25400" tIns="25400" rIns="25400" bIns="25400" rtlCol="0" anchor="t">
            <a:normAutofit lnSpcReduction="10000"/>
          </a:bodyPr>
          <a:lstStyle/>
          <a:p>
            <a:pPr marL="0" indent="0" algn="ctr">
              <a:buNone/>
            </a:pPr>
            <a:r>
              <a:rPr lang="en-US" sz="2550" b="1" kern="0" spc="-25" dirty="0">
                <a:solidFill>
                  <a:srgbClr val="111827"/>
                </a:solidFill>
                <a:latin typeface="Inter" pitchFamily="34" charset="0"/>
                <a:ea typeface="Inter" pitchFamily="34" charset="-122"/>
                <a:cs typeface="Inter" pitchFamily="34" charset="-120"/>
              </a:rPr>
              <a:t>The Engine Behind the Scenes</a:t>
            </a:r>
            <a:endParaRPr lang="en-US" sz="2550" dirty="0"/>
          </a:p>
        </p:txBody>
      </p:sp>
      <p:sp>
        <p:nvSpPr>
          <p:cNvPr id="3" name="Text 1"/>
          <p:cNvSpPr/>
          <p:nvPr/>
        </p:nvSpPr>
        <p:spPr>
          <a:xfrm>
            <a:off x="-327660" y="695325"/>
            <a:ext cx="18943320" cy="247650"/>
          </a:xfrm>
          <a:prstGeom prst="rect">
            <a:avLst/>
          </a:prstGeom>
          <a:noFill/>
          <a:ln/>
        </p:spPr>
        <p:txBody>
          <a:bodyPr wrap="square" lIns="25400" tIns="25400" rIns="25400" bIns="25400" rtlCol="0" anchor="t">
            <a:normAutofit lnSpcReduction="10000"/>
          </a:bodyPr>
          <a:lstStyle/>
          <a:p>
            <a:pPr marL="0" indent="0" algn="ctr">
              <a:buNone/>
            </a:pPr>
            <a:r>
              <a:rPr lang="en-US" sz="1350" dirty="0">
                <a:solidFill>
                  <a:srgbClr val="6B7280"/>
                </a:solidFill>
                <a:latin typeface="Inter" pitchFamily="34" charset="0"/>
                <a:ea typeface="Inter" pitchFamily="34" charset="-122"/>
                <a:cs typeface="Inter" pitchFamily="34" charset="-120"/>
              </a:rPr>
              <a:t>How the platform is configured once and then runs every consult automatically from start to finish</a:t>
            </a:r>
            <a:endParaRPr lang="en-US" sz="1350" dirty="0"/>
          </a:p>
        </p:txBody>
      </p:sp>
      <p:sp>
        <p:nvSpPr>
          <p:cNvPr id="4" name="Shape 2"/>
          <p:cNvSpPr/>
          <p:nvPr/>
        </p:nvSpPr>
        <p:spPr>
          <a:xfrm>
            <a:off x="533400" y="1000125"/>
            <a:ext cx="17221200" cy="2180034"/>
          </a:xfrm>
          <a:prstGeom prst="roundRect">
            <a:avLst>
              <a:gd name="adj" fmla="val 6117"/>
            </a:avLst>
          </a:prstGeom>
          <a:solidFill>
            <a:srgbClr val="FFFFFF"/>
          </a:solidFill>
          <a:ln w="19050">
            <a:solidFill>
              <a:srgbClr val="E5E0D8"/>
            </a:solidFill>
            <a:prstDash val="solid"/>
          </a:ln>
        </p:spPr>
      </p:sp>
      <p:sp>
        <p:nvSpPr>
          <p:cNvPr id="5" name="Text 3"/>
          <p:cNvSpPr/>
          <p:nvPr/>
        </p:nvSpPr>
        <p:spPr>
          <a:xfrm>
            <a:off x="762000" y="1152525"/>
            <a:ext cx="304800" cy="338138"/>
          </a:xfrm>
          <a:prstGeom prst="rect">
            <a:avLst/>
          </a:prstGeom>
          <a:noFill/>
          <a:ln/>
        </p:spPr>
        <p:txBody>
          <a:bodyPr wrap="square" lIns="25400" tIns="25400" rIns="25400" bIns="25400" rtlCol="0" anchor="t">
            <a:normAutofit/>
          </a:bodyPr>
          <a:lstStyle/>
          <a:p>
            <a:pPr marL="0" indent="0" algn="l">
              <a:buNone/>
            </a:pPr>
            <a:r>
              <a:rPr lang="en-US" sz="1800" dirty="0">
                <a:solidFill>
                  <a:srgbClr val="111827"/>
                </a:solidFill>
                <a:latin typeface="Inter" pitchFamily="34" charset="0"/>
                <a:ea typeface="Inter" pitchFamily="34" charset="-122"/>
                <a:cs typeface="Inter" pitchFamily="34" charset="-120"/>
              </a:rPr>
              <a:t>🎛️</a:t>
            </a:r>
            <a:endParaRPr lang="en-US" sz="1800" dirty="0"/>
          </a:p>
        </p:txBody>
      </p:sp>
      <p:sp>
        <p:nvSpPr>
          <p:cNvPr id="6" name="Text 4"/>
          <p:cNvSpPr/>
          <p:nvPr/>
        </p:nvSpPr>
        <p:spPr>
          <a:xfrm>
            <a:off x="1085850" y="1193006"/>
            <a:ext cx="5179650"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11827"/>
                </a:solidFill>
                <a:latin typeface="Inter" pitchFamily="34" charset="0"/>
                <a:ea typeface="Inter" pitchFamily="34" charset="-122"/>
                <a:cs typeface="Inter" pitchFamily="34" charset="-120"/>
              </a:rPr>
              <a:t>The Cockpit — Configured Once, Applied Every Time</a:t>
            </a:r>
            <a:endParaRPr lang="en-US" sz="1425" dirty="0"/>
          </a:p>
        </p:txBody>
      </p:sp>
      <p:sp>
        <p:nvSpPr>
          <p:cNvPr id="7" name="Text 5"/>
          <p:cNvSpPr/>
          <p:nvPr/>
        </p:nvSpPr>
        <p:spPr>
          <a:xfrm>
            <a:off x="12114981" y="1216819"/>
            <a:ext cx="5952120"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Set by the Admin Portal. Powers every automated decision in the pipeline below.</a:t>
            </a:r>
            <a:endParaRPr lang="en-US" sz="1125" dirty="0"/>
          </a:p>
        </p:txBody>
      </p:sp>
      <p:sp>
        <p:nvSpPr>
          <p:cNvPr id="8" name="Shape 6"/>
          <p:cNvSpPr/>
          <p:nvPr/>
        </p:nvSpPr>
        <p:spPr>
          <a:xfrm>
            <a:off x="762000" y="1547813"/>
            <a:ext cx="2714625" cy="1479947"/>
          </a:xfrm>
          <a:prstGeom prst="roundRect">
            <a:avLst>
              <a:gd name="adj" fmla="val 6436"/>
            </a:avLst>
          </a:prstGeom>
          <a:solidFill>
            <a:srgbClr val="F5F3FF"/>
          </a:solidFill>
          <a:ln w="9525">
            <a:solidFill>
              <a:srgbClr val="DDD6FE"/>
            </a:solidFill>
            <a:prstDash val="solid"/>
          </a:ln>
        </p:spPr>
      </p:sp>
      <p:sp>
        <p:nvSpPr>
          <p:cNvPr id="9" name="Text 7"/>
          <p:cNvSpPr/>
          <p:nvPr/>
        </p:nvSpPr>
        <p:spPr>
          <a:xfrm>
            <a:off x="8953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0" name="Text 8"/>
          <p:cNvSpPr/>
          <p:nvPr/>
        </p:nvSpPr>
        <p:spPr>
          <a:xfrm>
            <a:off x="8953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Care Programs</a:t>
            </a:r>
            <a:endParaRPr lang="en-US" sz="1050" dirty="0"/>
          </a:p>
        </p:txBody>
      </p:sp>
      <p:sp>
        <p:nvSpPr>
          <p:cNvPr id="11" name="Text 9"/>
          <p:cNvSpPr/>
          <p:nvPr/>
        </p:nvSpPr>
        <p:spPr>
          <a:xfrm>
            <a:off x="895350"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what each telehealth program looks like, what patients need to qualify, how the visit runs and how it is billed.</a:t>
            </a:r>
            <a:endParaRPr lang="en-US" sz="975" dirty="0"/>
          </a:p>
        </p:txBody>
      </p:sp>
      <p:sp>
        <p:nvSpPr>
          <p:cNvPr id="12" name="Shape 10"/>
          <p:cNvSpPr/>
          <p:nvPr/>
        </p:nvSpPr>
        <p:spPr>
          <a:xfrm>
            <a:off x="3571875" y="1547813"/>
            <a:ext cx="2714625" cy="1479947"/>
          </a:xfrm>
          <a:prstGeom prst="roundRect">
            <a:avLst>
              <a:gd name="adj" fmla="val 6436"/>
            </a:avLst>
          </a:prstGeom>
          <a:solidFill>
            <a:srgbClr val="F5F3FF"/>
          </a:solidFill>
          <a:ln w="9525">
            <a:solidFill>
              <a:srgbClr val="DDD6FE"/>
            </a:solidFill>
            <a:prstDash val="solid"/>
          </a:ln>
        </p:spPr>
      </p:sp>
      <p:sp>
        <p:nvSpPr>
          <p:cNvPr id="13" name="Text 11"/>
          <p:cNvSpPr/>
          <p:nvPr/>
        </p:nvSpPr>
        <p:spPr>
          <a:xfrm>
            <a:off x="37052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4" name="Text 12"/>
          <p:cNvSpPr/>
          <p:nvPr/>
        </p:nvSpPr>
        <p:spPr>
          <a:xfrm>
            <a:off x="37052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State Coverage Rules</a:t>
            </a:r>
            <a:endParaRPr lang="en-US" sz="1050" dirty="0"/>
          </a:p>
        </p:txBody>
      </p:sp>
      <p:sp>
        <p:nvSpPr>
          <p:cNvPr id="15" name="Text 13"/>
          <p:cNvSpPr/>
          <p:nvPr/>
        </p:nvSpPr>
        <p:spPr>
          <a:xfrm>
            <a:off x="3705225" y="2195513"/>
            <a:ext cx="2524125" cy="5765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Controls which programs are available in each state and what requirements must be met before a patient can be seen.</a:t>
            </a:r>
            <a:endParaRPr lang="en-US" sz="975" dirty="0"/>
          </a:p>
        </p:txBody>
      </p:sp>
      <p:sp>
        <p:nvSpPr>
          <p:cNvPr id="16" name="Shape 14"/>
          <p:cNvSpPr/>
          <p:nvPr/>
        </p:nvSpPr>
        <p:spPr>
          <a:xfrm>
            <a:off x="6381750" y="1547813"/>
            <a:ext cx="2714625" cy="1479947"/>
          </a:xfrm>
          <a:prstGeom prst="roundRect">
            <a:avLst>
              <a:gd name="adj" fmla="val 6436"/>
            </a:avLst>
          </a:prstGeom>
          <a:solidFill>
            <a:srgbClr val="F5F3FF"/>
          </a:solidFill>
          <a:ln w="9525">
            <a:solidFill>
              <a:srgbClr val="DDD6FE"/>
            </a:solidFill>
            <a:prstDash val="solid"/>
          </a:ln>
        </p:spPr>
      </p:sp>
      <p:sp>
        <p:nvSpPr>
          <p:cNvPr id="17" name="Text 15"/>
          <p:cNvSpPr/>
          <p:nvPr/>
        </p:nvSpPr>
        <p:spPr>
          <a:xfrm>
            <a:off x="651510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18" name="Text 16"/>
          <p:cNvSpPr/>
          <p:nvPr/>
        </p:nvSpPr>
        <p:spPr>
          <a:xfrm>
            <a:off x="651510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Response Time Standards</a:t>
            </a:r>
            <a:endParaRPr lang="en-US" sz="1050" dirty="0"/>
          </a:p>
        </p:txBody>
      </p:sp>
      <p:sp>
        <p:nvSpPr>
          <p:cNvPr id="19" name="Text 17"/>
          <p:cNvSpPr/>
          <p:nvPr/>
        </p:nvSpPr>
        <p:spPr>
          <a:xfrm>
            <a:off x="651510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Sets how quickly each step in the journey must be completed and what the platform does automatically when a deadline is at risk.</a:t>
            </a:r>
            <a:endParaRPr lang="en-US" sz="975" dirty="0"/>
          </a:p>
        </p:txBody>
      </p:sp>
      <p:sp>
        <p:nvSpPr>
          <p:cNvPr id="20" name="Shape 18"/>
          <p:cNvSpPr/>
          <p:nvPr/>
        </p:nvSpPr>
        <p:spPr>
          <a:xfrm>
            <a:off x="9191625" y="1547813"/>
            <a:ext cx="2714625" cy="1479947"/>
          </a:xfrm>
          <a:prstGeom prst="roundRect">
            <a:avLst>
              <a:gd name="adj" fmla="val 6436"/>
            </a:avLst>
          </a:prstGeom>
          <a:solidFill>
            <a:srgbClr val="F5F3FF"/>
          </a:solidFill>
          <a:ln w="9525">
            <a:solidFill>
              <a:srgbClr val="DDD6FE"/>
            </a:solidFill>
            <a:prstDash val="solid"/>
          </a:ln>
        </p:spPr>
      </p:sp>
      <p:sp>
        <p:nvSpPr>
          <p:cNvPr id="21" name="Text 19"/>
          <p:cNvSpPr/>
          <p:nvPr/>
        </p:nvSpPr>
        <p:spPr>
          <a:xfrm>
            <a:off x="932497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2" name="Text 20"/>
          <p:cNvSpPr/>
          <p:nvPr/>
        </p:nvSpPr>
        <p:spPr>
          <a:xfrm>
            <a:off x="932497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Team and Oversight Rules</a:t>
            </a:r>
            <a:endParaRPr lang="en-US" sz="1050" dirty="0"/>
          </a:p>
        </p:txBody>
      </p:sp>
      <p:sp>
        <p:nvSpPr>
          <p:cNvPr id="23" name="Text 21"/>
          <p:cNvSpPr/>
          <p:nvPr/>
        </p:nvSpPr>
        <p:spPr>
          <a:xfrm>
            <a:off x="9324975"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Determines which team handles which type of work, who has oversight and when a second review is required before a consult can close.</a:t>
            </a:r>
            <a:endParaRPr lang="en-US" sz="975" dirty="0"/>
          </a:p>
        </p:txBody>
      </p:sp>
      <p:sp>
        <p:nvSpPr>
          <p:cNvPr id="24" name="Shape 22"/>
          <p:cNvSpPr/>
          <p:nvPr/>
        </p:nvSpPr>
        <p:spPr>
          <a:xfrm>
            <a:off x="12001500" y="1547813"/>
            <a:ext cx="2714625" cy="1479947"/>
          </a:xfrm>
          <a:prstGeom prst="roundRect">
            <a:avLst>
              <a:gd name="adj" fmla="val 6436"/>
            </a:avLst>
          </a:prstGeom>
          <a:solidFill>
            <a:srgbClr val="F5F3FF"/>
          </a:solidFill>
          <a:ln w="9525">
            <a:solidFill>
              <a:srgbClr val="DDD6FE"/>
            </a:solidFill>
            <a:prstDash val="solid"/>
          </a:ln>
        </p:spPr>
      </p:sp>
      <p:sp>
        <p:nvSpPr>
          <p:cNvPr id="25" name="Text 23"/>
          <p:cNvSpPr/>
          <p:nvPr/>
        </p:nvSpPr>
        <p:spPr>
          <a:xfrm>
            <a:off x="12134850"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26" name="Text 24"/>
          <p:cNvSpPr/>
          <p:nvPr/>
        </p:nvSpPr>
        <p:spPr>
          <a:xfrm>
            <a:off x="12134850"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Patient Journey Paths</a:t>
            </a:r>
            <a:endParaRPr lang="en-US" sz="1050" dirty="0"/>
          </a:p>
        </p:txBody>
      </p:sp>
      <p:sp>
        <p:nvSpPr>
          <p:cNvPr id="27" name="Text 25"/>
          <p:cNvSpPr/>
          <p:nvPr/>
        </p:nvSpPr>
        <p:spPr>
          <a:xfrm>
            <a:off x="12134850" y="2195513"/>
            <a:ext cx="2524125" cy="756047"/>
          </a:xfrm>
          <a:prstGeom prst="rect">
            <a:avLst/>
          </a:prstGeom>
          <a:noFill/>
          <a:ln/>
        </p:spPr>
        <p:txBody>
          <a:bodyPr wrap="square" lIns="25400" tIns="25400" rIns="25400" bIns="25400" rtlCol="0" anchor="t">
            <a:normAutofit/>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Configures the specific steps each patient follows based on their program so every journey is consistent and nothing falls through the cracks.</a:t>
            </a:r>
            <a:endParaRPr lang="en-US" sz="975" dirty="0"/>
          </a:p>
        </p:txBody>
      </p:sp>
      <p:sp>
        <p:nvSpPr>
          <p:cNvPr id="28" name="Shape 26"/>
          <p:cNvSpPr/>
          <p:nvPr/>
        </p:nvSpPr>
        <p:spPr>
          <a:xfrm>
            <a:off x="14811375" y="1547813"/>
            <a:ext cx="2714625" cy="1479947"/>
          </a:xfrm>
          <a:prstGeom prst="roundRect">
            <a:avLst>
              <a:gd name="adj" fmla="val 6436"/>
            </a:avLst>
          </a:prstGeom>
          <a:solidFill>
            <a:srgbClr val="F5F3FF"/>
          </a:solidFill>
          <a:ln w="9525">
            <a:solidFill>
              <a:srgbClr val="DDD6FE"/>
            </a:solidFill>
            <a:prstDash val="solid"/>
          </a:ln>
        </p:spPr>
      </p:sp>
      <p:sp>
        <p:nvSpPr>
          <p:cNvPr id="29" name="Text 27"/>
          <p:cNvSpPr/>
          <p:nvPr/>
        </p:nvSpPr>
        <p:spPr>
          <a:xfrm>
            <a:off x="14944725" y="1662113"/>
            <a:ext cx="2692718"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0" name="Text 28"/>
          <p:cNvSpPr/>
          <p:nvPr/>
        </p:nvSpPr>
        <p:spPr>
          <a:xfrm>
            <a:off x="14944725" y="1985963"/>
            <a:ext cx="269271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5B21B6"/>
                </a:solidFill>
                <a:latin typeface="Inter" pitchFamily="34" charset="0"/>
                <a:ea typeface="Inter" pitchFamily="34" charset="-122"/>
                <a:cs typeface="Inter" pitchFamily="34" charset="-120"/>
              </a:rPr>
              <a:t>Communication Rules</a:t>
            </a:r>
            <a:endParaRPr lang="en-US" sz="1050" dirty="0"/>
          </a:p>
        </p:txBody>
      </p:sp>
      <p:sp>
        <p:nvSpPr>
          <p:cNvPr id="31" name="Text 29"/>
          <p:cNvSpPr/>
          <p:nvPr/>
        </p:nvSpPr>
        <p:spPr>
          <a:xfrm>
            <a:off x="14944725" y="2195513"/>
            <a:ext cx="2524125" cy="75604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975" dirty="0">
                <a:solidFill>
                  <a:srgbClr val="374151"/>
                </a:solidFill>
                <a:latin typeface="Inter" pitchFamily="34" charset="0"/>
                <a:ea typeface="Inter" pitchFamily="34" charset="-122"/>
                <a:cs typeface="Inter" pitchFamily="34" charset="-120"/>
              </a:rPr>
              <a:t>Defines when patients and providers are automatically contacted so everyone stays informed throughout the journey without anyone reaching out manually.</a:t>
            </a:r>
            <a:endParaRPr lang="en-US" sz="975" dirty="0"/>
          </a:p>
        </p:txBody>
      </p:sp>
      <p:sp>
        <p:nvSpPr>
          <p:cNvPr id="32" name="Text 30"/>
          <p:cNvSpPr/>
          <p:nvPr/>
        </p:nvSpPr>
        <p:spPr>
          <a:xfrm>
            <a:off x="7384852" y="3256359"/>
            <a:ext cx="3870127"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RULES POWER EVERY AUTOMATED STEP BELOW ↓</a:t>
            </a:r>
            <a:endParaRPr lang="en-US" sz="975" dirty="0"/>
          </a:p>
        </p:txBody>
      </p:sp>
      <p:sp>
        <p:nvSpPr>
          <p:cNvPr id="33" name="Shape 31"/>
          <p:cNvSpPr/>
          <p:nvPr/>
        </p:nvSpPr>
        <p:spPr>
          <a:xfrm>
            <a:off x="533400" y="3480198"/>
            <a:ext cx="17221200" cy="4930006"/>
          </a:xfrm>
          <a:prstGeom prst="roundRect">
            <a:avLst>
              <a:gd name="adj" fmla="val 2614"/>
            </a:avLst>
          </a:prstGeom>
          <a:solidFill>
            <a:srgbClr val="FFFFFF"/>
          </a:solidFill>
          <a:ln w="28575">
            <a:solidFill>
              <a:srgbClr val="6D28D9"/>
            </a:solidFill>
            <a:prstDash val="solid"/>
          </a:ln>
        </p:spPr>
      </p:sp>
      <p:sp>
        <p:nvSpPr>
          <p:cNvPr id="34" name="Text 32"/>
          <p:cNvSpPr/>
          <p:nvPr/>
        </p:nvSpPr>
        <p:spPr>
          <a:xfrm>
            <a:off x="771525" y="3642122"/>
            <a:ext cx="28575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111827"/>
                </a:solidFill>
                <a:latin typeface="Inter" pitchFamily="34" charset="0"/>
                <a:ea typeface="Inter" pitchFamily="34" charset="-122"/>
                <a:cs typeface="Inter" pitchFamily="34" charset="-120"/>
              </a:rPr>
              <a:t>⚡</a:t>
            </a:r>
            <a:endParaRPr lang="en-US" sz="1650" dirty="0"/>
          </a:p>
        </p:txBody>
      </p:sp>
      <p:sp>
        <p:nvSpPr>
          <p:cNvPr id="35" name="Text 33"/>
          <p:cNvSpPr/>
          <p:nvPr/>
        </p:nvSpPr>
        <p:spPr>
          <a:xfrm>
            <a:off x="1057275" y="3670697"/>
            <a:ext cx="2751653"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6D28D9"/>
                </a:solidFill>
                <a:latin typeface="Inter" pitchFamily="34" charset="0"/>
                <a:ea typeface="Inter" pitchFamily="34" charset="-122"/>
                <a:cs typeface="Inter" pitchFamily="34" charset="-120"/>
              </a:rPr>
              <a:t>Automated Consult Pipeline</a:t>
            </a:r>
            <a:endParaRPr lang="en-US" sz="1425" dirty="0"/>
          </a:p>
        </p:txBody>
      </p:sp>
      <p:sp>
        <p:nvSpPr>
          <p:cNvPr id="36" name="Text 34"/>
          <p:cNvSpPr/>
          <p:nvPr/>
        </p:nvSpPr>
        <p:spPr>
          <a:xfrm>
            <a:off x="3692128" y="3694509"/>
            <a:ext cx="4154984" cy="20955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6B7280"/>
                </a:solidFill>
                <a:latin typeface="Inter" pitchFamily="34" charset="0"/>
                <a:ea typeface="Inter" pitchFamily="34" charset="-122"/>
                <a:cs typeface="Inter" pitchFamily="34" charset="-120"/>
              </a:rPr>
              <a:t>— the platform takes over the moment a patient submits</a:t>
            </a:r>
            <a:endParaRPr lang="en-US" sz="1125" dirty="0"/>
          </a:p>
        </p:txBody>
      </p:sp>
      <p:sp>
        <p:nvSpPr>
          <p:cNvPr id="37" name="Shape 35"/>
          <p:cNvSpPr/>
          <p:nvPr/>
        </p:nvSpPr>
        <p:spPr>
          <a:xfrm>
            <a:off x="771525" y="4032647"/>
            <a:ext cx="2076450" cy="1762125"/>
          </a:xfrm>
          <a:prstGeom prst="roundRect">
            <a:avLst>
              <a:gd name="adj" fmla="val 6486"/>
            </a:avLst>
          </a:prstGeom>
          <a:solidFill>
            <a:srgbClr val="111827"/>
          </a:solidFill>
          <a:ln/>
        </p:spPr>
      </p:sp>
      <p:sp>
        <p:nvSpPr>
          <p:cNvPr id="38" name="Text 36"/>
          <p:cNvSpPr/>
          <p:nvPr/>
        </p:nvSpPr>
        <p:spPr>
          <a:xfrm>
            <a:off x="914400" y="4156472"/>
            <a:ext cx="196977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9CA3AF"/>
                </a:solidFill>
                <a:latin typeface="Inter" pitchFamily="34" charset="0"/>
                <a:ea typeface="Inter" pitchFamily="34" charset="-122"/>
                <a:cs typeface="Inter" pitchFamily="34" charset="-120"/>
              </a:rPr>
              <a:t>CONSULT ENTERS</a:t>
            </a:r>
            <a:endParaRPr lang="en-US" sz="900" dirty="0"/>
          </a:p>
        </p:txBody>
      </p:sp>
      <p:sp>
        <p:nvSpPr>
          <p:cNvPr id="39" name="Text 37"/>
          <p:cNvSpPr/>
          <p:nvPr/>
        </p:nvSpPr>
        <p:spPr>
          <a:xfrm>
            <a:off x="914400" y="4351734"/>
            <a:ext cx="1866900" cy="409575"/>
          </a:xfrm>
          <a:prstGeom prst="rect">
            <a:avLst/>
          </a:prstGeom>
          <a:noFill/>
          <a:ln/>
        </p:spPr>
        <p:txBody>
          <a:bodyPr wrap="square" lIns="25400" tIns="25400" rIns="25400" bIns="25400" rtlCol="0" anchor="t">
            <a:normAutofit/>
          </a:bodyPr>
          <a:lstStyle/>
          <a:p>
            <a:pPr marL="0" indent="0" algn="l">
              <a:buNone/>
            </a:pPr>
            <a:r>
              <a:rPr lang="en-US" sz="1200" b="1" dirty="0">
                <a:solidFill>
                  <a:srgbClr val="FFFFFF"/>
                </a:solidFill>
                <a:latin typeface="Inter" pitchFamily="34" charset="0"/>
                <a:ea typeface="Inter" pitchFamily="34" charset="-122"/>
                <a:cs typeface="Inter" pitchFamily="34" charset="-120"/>
              </a:rPr>
              <a:t>On Demand or Scheduled</a:t>
            </a:r>
            <a:endParaRPr lang="en-US" sz="1200" dirty="0"/>
          </a:p>
        </p:txBody>
      </p:sp>
      <p:sp>
        <p:nvSpPr>
          <p:cNvPr id="40" name="Text 38"/>
          <p:cNvSpPr/>
          <p:nvPr/>
        </p:nvSpPr>
        <p:spPr>
          <a:xfrm>
            <a:off x="914400" y="4799409"/>
            <a:ext cx="1969770" cy="185738"/>
          </a:xfrm>
          <a:prstGeom prst="rect">
            <a:avLst/>
          </a:prstGeom>
          <a:noFill/>
          <a:ln/>
        </p:spPr>
        <p:txBody>
          <a:bodyPr wrap="square" lIns="25400" tIns="25400" rIns="25400" bIns="25400" rtlCol="0" anchor="t">
            <a:normAutofit lnSpcReduction="10000"/>
          </a:bodyPr>
          <a:lstStyle/>
          <a:p>
            <a:pPr marL="0" indent="0" algn="l">
              <a:buNone/>
            </a:pPr>
            <a:r>
              <a:rPr lang="en-US" sz="975" b="1" dirty="0">
                <a:solidFill>
                  <a:srgbClr val="C4B5FD"/>
                </a:solidFill>
                <a:latin typeface="Inter" pitchFamily="34" charset="0"/>
                <a:ea typeface="Inter" pitchFamily="34" charset="-122"/>
                <a:cs typeface="Inter" pitchFamily="34" charset="-120"/>
              </a:rPr>
              <a:t>Consult Types</a:t>
            </a:r>
            <a:endParaRPr lang="en-US" sz="975" dirty="0"/>
          </a:p>
        </p:txBody>
      </p:sp>
      <p:sp>
        <p:nvSpPr>
          <p:cNvPr id="41" name="Shape 39"/>
          <p:cNvSpPr/>
          <p:nvPr/>
        </p:nvSpPr>
        <p:spPr>
          <a:xfrm>
            <a:off x="914400" y="5044678"/>
            <a:ext cx="57150" cy="57150"/>
          </a:xfrm>
          <a:prstGeom prst="ellipse">
            <a:avLst/>
          </a:prstGeom>
          <a:solidFill>
            <a:srgbClr val="6D28D9"/>
          </a:solidFill>
          <a:ln/>
        </p:spPr>
      </p:sp>
      <p:sp>
        <p:nvSpPr>
          <p:cNvPr id="42" name="Text 40"/>
          <p:cNvSpPr/>
          <p:nvPr/>
        </p:nvSpPr>
        <p:spPr>
          <a:xfrm>
            <a:off x="1028700" y="5004197"/>
            <a:ext cx="1124769"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Async Consultation</a:t>
            </a:r>
            <a:endParaRPr lang="en-US" sz="900" dirty="0"/>
          </a:p>
        </p:txBody>
      </p:sp>
      <p:sp>
        <p:nvSpPr>
          <p:cNvPr id="43" name="Shape 41"/>
          <p:cNvSpPr/>
          <p:nvPr/>
        </p:nvSpPr>
        <p:spPr>
          <a:xfrm>
            <a:off x="914400" y="5220891"/>
            <a:ext cx="57150" cy="57150"/>
          </a:xfrm>
          <a:prstGeom prst="ellipse">
            <a:avLst/>
          </a:prstGeom>
          <a:solidFill>
            <a:srgbClr val="6D28D9"/>
          </a:solidFill>
          <a:ln/>
        </p:spPr>
      </p:sp>
      <p:sp>
        <p:nvSpPr>
          <p:cNvPr id="44" name="Text 42"/>
          <p:cNvSpPr/>
          <p:nvPr/>
        </p:nvSpPr>
        <p:spPr>
          <a:xfrm>
            <a:off x="1028700" y="5180409"/>
            <a:ext cx="69048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Video</a:t>
            </a:r>
            <a:endParaRPr lang="en-US" sz="900" dirty="0"/>
          </a:p>
        </p:txBody>
      </p:sp>
      <p:sp>
        <p:nvSpPr>
          <p:cNvPr id="45" name="Shape 43"/>
          <p:cNvSpPr/>
          <p:nvPr/>
        </p:nvSpPr>
        <p:spPr>
          <a:xfrm>
            <a:off x="914400" y="5397103"/>
            <a:ext cx="57150" cy="57150"/>
          </a:xfrm>
          <a:prstGeom prst="ellipse">
            <a:avLst/>
          </a:prstGeom>
          <a:solidFill>
            <a:srgbClr val="6D28D9"/>
          </a:solidFill>
          <a:ln/>
        </p:spPr>
      </p:sp>
      <p:sp>
        <p:nvSpPr>
          <p:cNvPr id="46" name="Text 44"/>
          <p:cNvSpPr/>
          <p:nvPr/>
        </p:nvSpPr>
        <p:spPr>
          <a:xfrm>
            <a:off x="1028700" y="5356622"/>
            <a:ext cx="971178"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Sync Telephonic</a:t>
            </a:r>
            <a:endParaRPr lang="en-US" sz="900" dirty="0"/>
          </a:p>
        </p:txBody>
      </p:sp>
      <p:sp>
        <p:nvSpPr>
          <p:cNvPr id="47" name="Shape 45"/>
          <p:cNvSpPr/>
          <p:nvPr/>
        </p:nvSpPr>
        <p:spPr>
          <a:xfrm>
            <a:off x="914400" y="5573316"/>
            <a:ext cx="57150" cy="57150"/>
          </a:xfrm>
          <a:prstGeom prst="ellipse">
            <a:avLst/>
          </a:prstGeom>
          <a:solidFill>
            <a:srgbClr val="6D28D9"/>
          </a:solidFill>
          <a:ln/>
        </p:spPr>
      </p:sp>
      <p:sp>
        <p:nvSpPr>
          <p:cNvPr id="48" name="Text 46"/>
          <p:cNvSpPr/>
          <p:nvPr/>
        </p:nvSpPr>
        <p:spPr>
          <a:xfrm>
            <a:off x="1028700" y="5532834"/>
            <a:ext cx="1131912" cy="176212"/>
          </a:xfrm>
          <a:prstGeom prst="rect">
            <a:avLst/>
          </a:prstGeom>
          <a:noFill/>
          <a:ln/>
        </p:spPr>
        <p:txBody>
          <a:bodyPr wrap="square" lIns="0" tIns="0" rIns="0" bIns="0" rtlCol="0" anchor="t">
            <a:normAutofit/>
          </a:bodyPr>
          <a:lstStyle/>
          <a:p>
            <a:pPr marL="0" indent="0" algn="l">
              <a:buNone/>
            </a:pPr>
            <a:r>
              <a:rPr lang="en-US" sz="900" dirty="0">
                <a:solidFill>
                  <a:srgbClr val="9CA3AF"/>
                </a:solidFill>
                <a:latin typeface="Inter" pitchFamily="34" charset="0"/>
                <a:ea typeface="Inter" pitchFamily="34" charset="-122"/>
                <a:cs typeface="Inter" pitchFamily="34" charset="-120"/>
              </a:rPr>
              <a:t>Genetic Counseling</a:t>
            </a:r>
            <a:endParaRPr lang="en-US" sz="900" dirty="0"/>
          </a:p>
        </p:txBody>
      </p:sp>
      <p:sp>
        <p:nvSpPr>
          <p:cNvPr id="49" name="Text 47"/>
          <p:cNvSpPr/>
          <p:nvPr/>
        </p:nvSpPr>
        <p:spPr>
          <a:xfrm>
            <a:off x="291465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50" name="Shape 48"/>
          <p:cNvSpPr/>
          <p:nvPr/>
        </p:nvSpPr>
        <p:spPr>
          <a:xfrm>
            <a:off x="3189089" y="4032647"/>
            <a:ext cx="4548336" cy="1762125"/>
          </a:xfrm>
          <a:prstGeom prst="roundRect">
            <a:avLst>
              <a:gd name="adj" fmla="val 6486"/>
            </a:avLst>
          </a:prstGeom>
          <a:solidFill>
            <a:srgbClr val="FAFAFA"/>
          </a:solidFill>
          <a:ln/>
        </p:spPr>
      </p:sp>
      <p:sp>
        <p:nvSpPr>
          <p:cNvPr id="51" name="Shape 49"/>
          <p:cNvSpPr/>
          <p:nvPr/>
        </p:nvSpPr>
        <p:spPr>
          <a:xfrm>
            <a:off x="3189089" y="5780484"/>
            <a:ext cx="4548336" cy="14288"/>
          </a:xfrm>
          <a:prstGeom prst="rect">
            <a:avLst/>
          </a:prstGeom>
          <a:solidFill>
            <a:srgbClr val="E5E0D8"/>
          </a:solidFill>
          <a:ln/>
        </p:spPr>
      </p:sp>
      <p:sp>
        <p:nvSpPr>
          <p:cNvPr id="52" name="Shape 50"/>
          <p:cNvSpPr/>
          <p:nvPr/>
        </p:nvSpPr>
        <p:spPr>
          <a:xfrm>
            <a:off x="3189089" y="4032647"/>
            <a:ext cx="4548336" cy="38100"/>
          </a:xfrm>
          <a:prstGeom prst="rect">
            <a:avLst/>
          </a:prstGeom>
          <a:solidFill>
            <a:srgbClr val="6D28D9"/>
          </a:solidFill>
          <a:ln/>
        </p:spPr>
      </p:sp>
      <p:sp>
        <p:nvSpPr>
          <p:cNvPr id="53" name="Shape 51"/>
          <p:cNvSpPr/>
          <p:nvPr/>
        </p:nvSpPr>
        <p:spPr>
          <a:xfrm>
            <a:off x="3189089" y="4032647"/>
            <a:ext cx="14288" cy="1762125"/>
          </a:xfrm>
          <a:prstGeom prst="rect">
            <a:avLst/>
          </a:prstGeom>
          <a:solidFill>
            <a:srgbClr val="E5E0D8"/>
          </a:solidFill>
          <a:ln/>
        </p:spPr>
      </p:sp>
      <p:sp>
        <p:nvSpPr>
          <p:cNvPr id="54" name="Shape 52"/>
          <p:cNvSpPr/>
          <p:nvPr/>
        </p:nvSpPr>
        <p:spPr>
          <a:xfrm>
            <a:off x="7723138" y="4032647"/>
            <a:ext cx="14288" cy="1762125"/>
          </a:xfrm>
          <a:prstGeom prst="rect">
            <a:avLst/>
          </a:prstGeom>
          <a:solidFill>
            <a:srgbClr val="E5E0D8"/>
          </a:solidFill>
          <a:ln/>
        </p:spPr>
      </p:sp>
      <p:sp>
        <p:nvSpPr>
          <p:cNvPr id="55" name="Text 53"/>
          <p:cNvSpPr/>
          <p:nvPr/>
        </p:nvSpPr>
        <p:spPr>
          <a:xfrm>
            <a:off x="3336727" y="4185047"/>
            <a:ext cx="4678367"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1</a:t>
            </a:r>
            <a:endParaRPr lang="en-US" sz="900" dirty="0"/>
          </a:p>
        </p:txBody>
      </p:sp>
      <p:sp>
        <p:nvSpPr>
          <p:cNvPr id="56" name="Text 54"/>
          <p:cNvSpPr/>
          <p:nvPr/>
        </p:nvSpPr>
        <p:spPr>
          <a:xfrm>
            <a:off x="3336727" y="4361259"/>
            <a:ext cx="4678367"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the Patient Ready?</a:t>
            </a:r>
            <a:endParaRPr lang="en-US" sz="1125" dirty="0"/>
          </a:p>
        </p:txBody>
      </p:sp>
      <p:sp>
        <p:nvSpPr>
          <p:cNvPr id="57" name="Text 55"/>
          <p:cNvSpPr/>
          <p:nvPr/>
        </p:nvSpPr>
        <p:spPr>
          <a:xfrm>
            <a:off x="3336727" y="4570809"/>
            <a:ext cx="4380653"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checks that the patient qualifies — right program, results on file, state covered. Incomplete cases are flagged before anyone's time is spent.</a:t>
            </a:r>
            <a:endParaRPr lang="en-US" sz="975" dirty="0"/>
          </a:p>
        </p:txBody>
      </p:sp>
      <p:sp>
        <p:nvSpPr>
          <p:cNvPr id="58" name="Shape 56"/>
          <p:cNvSpPr/>
          <p:nvPr/>
        </p:nvSpPr>
        <p:spPr>
          <a:xfrm>
            <a:off x="3336727" y="5166940"/>
            <a:ext cx="902494" cy="176213"/>
          </a:xfrm>
          <a:prstGeom prst="roundRect">
            <a:avLst>
              <a:gd name="adj" fmla="val 37838"/>
            </a:avLst>
          </a:prstGeom>
          <a:solidFill>
            <a:srgbClr val="DCFCE7"/>
          </a:solidFill>
          <a:ln/>
        </p:spPr>
      </p:sp>
      <p:sp>
        <p:nvSpPr>
          <p:cNvPr id="59" name="Text 57"/>
          <p:cNvSpPr/>
          <p:nvPr/>
        </p:nvSpPr>
        <p:spPr>
          <a:xfrm>
            <a:off x="341292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60" name="Text 58"/>
          <p:cNvSpPr/>
          <p:nvPr/>
        </p:nvSpPr>
        <p:spPr>
          <a:xfrm>
            <a:off x="7804100"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61" name="Shape 59"/>
          <p:cNvSpPr/>
          <p:nvPr/>
        </p:nvSpPr>
        <p:spPr>
          <a:xfrm>
            <a:off x="8078539" y="4032647"/>
            <a:ext cx="4548411" cy="1762125"/>
          </a:xfrm>
          <a:prstGeom prst="roundRect">
            <a:avLst>
              <a:gd name="adj" fmla="val 6486"/>
            </a:avLst>
          </a:prstGeom>
          <a:solidFill>
            <a:srgbClr val="FAFAFA"/>
          </a:solidFill>
          <a:ln/>
        </p:spPr>
      </p:sp>
      <p:sp>
        <p:nvSpPr>
          <p:cNvPr id="62" name="Shape 60"/>
          <p:cNvSpPr/>
          <p:nvPr/>
        </p:nvSpPr>
        <p:spPr>
          <a:xfrm>
            <a:off x="8078539" y="5780484"/>
            <a:ext cx="4548411" cy="14288"/>
          </a:xfrm>
          <a:prstGeom prst="rect">
            <a:avLst/>
          </a:prstGeom>
          <a:solidFill>
            <a:srgbClr val="E5E0D8"/>
          </a:solidFill>
          <a:ln/>
        </p:spPr>
      </p:sp>
      <p:sp>
        <p:nvSpPr>
          <p:cNvPr id="63" name="Shape 61"/>
          <p:cNvSpPr/>
          <p:nvPr/>
        </p:nvSpPr>
        <p:spPr>
          <a:xfrm>
            <a:off x="8078539" y="4032647"/>
            <a:ext cx="4548411" cy="38100"/>
          </a:xfrm>
          <a:prstGeom prst="rect">
            <a:avLst/>
          </a:prstGeom>
          <a:solidFill>
            <a:srgbClr val="6D28D9"/>
          </a:solidFill>
          <a:ln/>
        </p:spPr>
      </p:sp>
      <p:sp>
        <p:nvSpPr>
          <p:cNvPr id="64" name="Shape 62"/>
          <p:cNvSpPr/>
          <p:nvPr/>
        </p:nvSpPr>
        <p:spPr>
          <a:xfrm>
            <a:off x="8078539" y="4032647"/>
            <a:ext cx="14288" cy="1762125"/>
          </a:xfrm>
          <a:prstGeom prst="rect">
            <a:avLst/>
          </a:prstGeom>
          <a:solidFill>
            <a:srgbClr val="E5E0D8"/>
          </a:solidFill>
          <a:ln/>
        </p:spPr>
      </p:sp>
      <p:sp>
        <p:nvSpPr>
          <p:cNvPr id="65" name="Shape 63"/>
          <p:cNvSpPr/>
          <p:nvPr/>
        </p:nvSpPr>
        <p:spPr>
          <a:xfrm>
            <a:off x="12612663" y="4032647"/>
            <a:ext cx="14288" cy="1762125"/>
          </a:xfrm>
          <a:prstGeom prst="rect">
            <a:avLst/>
          </a:prstGeom>
          <a:solidFill>
            <a:srgbClr val="E5E0D8"/>
          </a:solidFill>
          <a:ln/>
        </p:spPr>
      </p:sp>
      <p:sp>
        <p:nvSpPr>
          <p:cNvPr id="66" name="Text 64"/>
          <p:cNvSpPr/>
          <p:nvPr/>
        </p:nvSpPr>
        <p:spPr>
          <a:xfrm>
            <a:off x="8226177"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2</a:t>
            </a:r>
            <a:endParaRPr lang="en-US" sz="900" dirty="0"/>
          </a:p>
        </p:txBody>
      </p:sp>
      <p:sp>
        <p:nvSpPr>
          <p:cNvPr id="67" name="Text 65"/>
          <p:cNvSpPr/>
          <p:nvPr/>
        </p:nvSpPr>
        <p:spPr>
          <a:xfrm>
            <a:off x="8226177"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Who Should See This Patient?</a:t>
            </a:r>
            <a:endParaRPr lang="en-US" sz="1125" dirty="0"/>
          </a:p>
        </p:txBody>
      </p:sp>
      <p:sp>
        <p:nvSpPr>
          <p:cNvPr id="68" name="Text 66"/>
          <p:cNvSpPr/>
          <p:nvPr/>
        </p:nvSpPr>
        <p:spPr>
          <a:xfrm>
            <a:off x="8226177" y="4570809"/>
            <a:ext cx="4380730"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platform matches the consult to the right provider type based on the program and confirms they are available and licensed in the patient's state.</a:t>
            </a:r>
            <a:endParaRPr lang="en-US" sz="975" dirty="0"/>
          </a:p>
        </p:txBody>
      </p:sp>
      <p:sp>
        <p:nvSpPr>
          <p:cNvPr id="69" name="Shape 67"/>
          <p:cNvSpPr/>
          <p:nvPr/>
        </p:nvSpPr>
        <p:spPr>
          <a:xfrm>
            <a:off x="8226177" y="5166940"/>
            <a:ext cx="902494" cy="176213"/>
          </a:xfrm>
          <a:prstGeom prst="roundRect">
            <a:avLst>
              <a:gd name="adj" fmla="val 37838"/>
            </a:avLst>
          </a:prstGeom>
          <a:solidFill>
            <a:srgbClr val="DCFCE7"/>
          </a:solidFill>
          <a:ln/>
        </p:spPr>
      </p:sp>
      <p:sp>
        <p:nvSpPr>
          <p:cNvPr id="70" name="Text 68"/>
          <p:cNvSpPr/>
          <p:nvPr/>
        </p:nvSpPr>
        <p:spPr>
          <a:xfrm>
            <a:off x="8302377" y="518599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71" name="Text 69"/>
          <p:cNvSpPr/>
          <p:nvPr/>
        </p:nvSpPr>
        <p:spPr>
          <a:xfrm>
            <a:off x="12693625" y="4032647"/>
            <a:ext cx="283964" cy="1800225"/>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72" name="Shape 70"/>
          <p:cNvSpPr/>
          <p:nvPr/>
        </p:nvSpPr>
        <p:spPr>
          <a:xfrm>
            <a:off x="12968064" y="4032647"/>
            <a:ext cx="4548411" cy="1762125"/>
          </a:xfrm>
          <a:prstGeom prst="roundRect">
            <a:avLst>
              <a:gd name="adj" fmla="val 6486"/>
            </a:avLst>
          </a:prstGeom>
          <a:solidFill>
            <a:srgbClr val="FAFAFA"/>
          </a:solidFill>
          <a:ln/>
        </p:spPr>
      </p:sp>
      <p:sp>
        <p:nvSpPr>
          <p:cNvPr id="73" name="Shape 71"/>
          <p:cNvSpPr/>
          <p:nvPr/>
        </p:nvSpPr>
        <p:spPr>
          <a:xfrm>
            <a:off x="12968064" y="5780484"/>
            <a:ext cx="4548411" cy="14288"/>
          </a:xfrm>
          <a:prstGeom prst="rect">
            <a:avLst/>
          </a:prstGeom>
          <a:solidFill>
            <a:srgbClr val="E5E0D8"/>
          </a:solidFill>
          <a:ln/>
        </p:spPr>
      </p:sp>
      <p:sp>
        <p:nvSpPr>
          <p:cNvPr id="74" name="Shape 72"/>
          <p:cNvSpPr/>
          <p:nvPr/>
        </p:nvSpPr>
        <p:spPr>
          <a:xfrm>
            <a:off x="12968064" y="4032647"/>
            <a:ext cx="4548411" cy="38100"/>
          </a:xfrm>
          <a:prstGeom prst="rect">
            <a:avLst/>
          </a:prstGeom>
          <a:solidFill>
            <a:srgbClr val="6D28D9"/>
          </a:solidFill>
          <a:ln/>
        </p:spPr>
      </p:sp>
      <p:sp>
        <p:nvSpPr>
          <p:cNvPr id="75" name="Shape 73"/>
          <p:cNvSpPr/>
          <p:nvPr/>
        </p:nvSpPr>
        <p:spPr>
          <a:xfrm>
            <a:off x="12968064" y="4032647"/>
            <a:ext cx="14288" cy="1762125"/>
          </a:xfrm>
          <a:prstGeom prst="rect">
            <a:avLst/>
          </a:prstGeom>
          <a:solidFill>
            <a:srgbClr val="E5E0D8"/>
          </a:solidFill>
          <a:ln/>
        </p:spPr>
      </p:sp>
      <p:sp>
        <p:nvSpPr>
          <p:cNvPr id="76" name="Shape 74"/>
          <p:cNvSpPr/>
          <p:nvPr/>
        </p:nvSpPr>
        <p:spPr>
          <a:xfrm>
            <a:off x="17502188" y="4032647"/>
            <a:ext cx="14288" cy="1762125"/>
          </a:xfrm>
          <a:prstGeom prst="rect">
            <a:avLst/>
          </a:prstGeom>
          <a:solidFill>
            <a:srgbClr val="E5E0D8"/>
          </a:solidFill>
          <a:ln/>
        </p:spPr>
      </p:sp>
      <p:sp>
        <p:nvSpPr>
          <p:cNvPr id="77" name="Text 75"/>
          <p:cNvSpPr/>
          <p:nvPr/>
        </p:nvSpPr>
        <p:spPr>
          <a:xfrm>
            <a:off x="13115702" y="4185047"/>
            <a:ext cx="4678449"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3</a:t>
            </a:r>
            <a:endParaRPr lang="en-US" sz="900" dirty="0"/>
          </a:p>
        </p:txBody>
      </p:sp>
      <p:sp>
        <p:nvSpPr>
          <p:cNvPr id="78" name="Text 76"/>
          <p:cNvSpPr/>
          <p:nvPr/>
        </p:nvSpPr>
        <p:spPr>
          <a:xfrm>
            <a:off x="13115702" y="4361259"/>
            <a:ext cx="4678449"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Where Does It Go?</a:t>
            </a:r>
            <a:endParaRPr lang="en-US" sz="1125" dirty="0"/>
          </a:p>
        </p:txBody>
      </p:sp>
      <p:sp>
        <p:nvSpPr>
          <p:cNvPr id="79" name="Text 77"/>
          <p:cNvSpPr/>
          <p:nvPr/>
        </p:nvSpPr>
        <p:spPr>
          <a:xfrm>
            <a:off x="13115702" y="4570809"/>
            <a:ext cx="4380730"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The consult is placed into the right department queue automatically. Staff see it in their queue when they are ready. No coordinator needed.</a:t>
            </a:r>
            <a:endParaRPr lang="en-US" sz="975" dirty="0"/>
          </a:p>
        </p:txBody>
      </p:sp>
      <p:sp>
        <p:nvSpPr>
          <p:cNvPr id="80" name="Shape 78"/>
          <p:cNvSpPr/>
          <p:nvPr/>
        </p:nvSpPr>
        <p:spPr>
          <a:xfrm>
            <a:off x="13115702" y="4993630"/>
            <a:ext cx="902494" cy="176213"/>
          </a:xfrm>
          <a:prstGeom prst="roundRect">
            <a:avLst>
              <a:gd name="adj" fmla="val 37838"/>
            </a:avLst>
          </a:prstGeom>
          <a:solidFill>
            <a:srgbClr val="DCFCE7"/>
          </a:solidFill>
          <a:ln/>
        </p:spPr>
      </p:sp>
      <p:sp>
        <p:nvSpPr>
          <p:cNvPr id="81" name="Text 79"/>
          <p:cNvSpPr/>
          <p:nvPr/>
        </p:nvSpPr>
        <p:spPr>
          <a:xfrm>
            <a:off x="13191902" y="5012680"/>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82" name="Text 80"/>
          <p:cNvSpPr/>
          <p:nvPr/>
        </p:nvSpPr>
        <p:spPr>
          <a:xfrm>
            <a:off x="16716226" y="5832872"/>
            <a:ext cx="266849" cy="31908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83" name="Shape 81"/>
          <p:cNvSpPr/>
          <p:nvPr/>
        </p:nvSpPr>
        <p:spPr>
          <a:xfrm>
            <a:off x="12898264" y="6151959"/>
            <a:ext cx="4618211" cy="1439094"/>
          </a:xfrm>
          <a:prstGeom prst="roundRect">
            <a:avLst>
              <a:gd name="adj" fmla="val 7942"/>
            </a:avLst>
          </a:prstGeom>
          <a:solidFill>
            <a:srgbClr val="FAFAFA"/>
          </a:solidFill>
          <a:ln/>
        </p:spPr>
      </p:sp>
      <p:sp>
        <p:nvSpPr>
          <p:cNvPr id="84" name="Shape 82"/>
          <p:cNvSpPr/>
          <p:nvPr/>
        </p:nvSpPr>
        <p:spPr>
          <a:xfrm>
            <a:off x="12898264" y="7576765"/>
            <a:ext cx="4618211" cy="14288"/>
          </a:xfrm>
          <a:prstGeom prst="rect">
            <a:avLst/>
          </a:prstGeom>
          <a:solidFill>
            <a:srgbClr val="E5E0D8"/>
          </a:solidFill>
          <a:ln/>
        </p:spPr>
      </p:sp>
      <p:sp>
        <p:nvSpPr>
          <p:cNvPr id="85" name="Shape 83"/>
          <p:cNvSpPr/>
          <p:nvPr/>
        </p:nvSpPr>
        <p:spPr>
          <a:xfrm>
            <a:off x="12898264" y="6151959"/>
            <a:ext cx="4618211" cy="38100"/>
          </a:xfrm>
          <a:prstGeom prst="rect">
            <a:avLst/>
          </a:prstGeom>
          <a:solidFill>
            <a:srgbClr val="6D28D9"/>
          </a:solidFill>
          <a:ln/>
        </p:spPr>
      </p:sp>
      <p:sp>
        <p:nvSpPr>
          <p:cNvPr id="86" name="Shape 84"/>
          <p:cNvSpPr/>
          <p:nvPr/>
        </p:nvSpPr>
        <p:spPr>
          <a:xfrm>
            <a:off x="12898264" y="6151959"/>
            <a:ext cx="14288" cy="1439094"/>
          </a:xfrm>
          <a:prstGeom prst="rect">
            <a:avLst/>
          </a:prstGeom>
          <a:solidFill>
            <a:srgbClr val="E5E0D8"/>
          </a:solidFill>
          <a:ln/>
        </p:spPr>
      </p:sp>
      <p:sp>
        <p:nvSpPr>
          <p:cNvPr id="87" name="Shape 85"/>
          <p:cNvSpPr/>
          <p:nvPr/>
        </p:nvSpPr>
        <p:spPr>
          <a:xfrm>
            <a:off x="17502188" y="6151959"/>
            <a:ext cx="14288" cy="1439094"/>
          </a:xfrm>
          <a:prstGeom prst="rect">
            <a:avLst/>
          </a:prstGeom>
          <a:solidFill>
            <a:srgbClr val="E5E0D8"/>
          </a:solidFill>
          <a:ln/>
        </p:spPr>
      </p:sp>
      <p:sp>
        <p:nvSpPr>
          <p:cNvPr id="88" name="Text 86"/>
          <p:cNvSpPr/>
          <p:nvPr/>
        </p:nvSpPr>
        <p:spPr>
          <a:xfrm>
            <a:off x="13045901"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4</a:t>
            </a:r>
            <a:endParaRPr lang="en-US" sz="900" dirty="0"/>
          </a:p>
        </p:txBody>
      </p:sp>
      <p:sp>
        <p:nvSpPr>
          <p:cNvPr id="89" name="Text 87"/>
          <p:cNvSpPr/>
          <p:nvPr/>
        </p:nvSpPr>
        <p:spPr>
          <a:xfrm>
            <a:off x="13045901"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The Clock Starts</a:t>
            </a:r>
            <a:endParaRPr lang="en-US" sz="1125" dirty="0"/>
          </a:p>
        </p:txBody>
      </p:sp>
      <p:sp>
        <p:nvSpPr>
          <p:cNvPr id="90" name="Text 88"/>
          <p:cNvSpPr/>
          <p:nvPr/>
        </p:nvSpPr>
        <p:spPr>
          <a:xfrm>
            <a:off x="13045901" y="6690122"/>
            <a:ext cx="4452624" cy="558031"/>
          </a:xfrm>
          <a:prstGeom prst="rect">
            <a:avLst/>
          </a:prstGeom>
          <a:noFill/>
          <a:ln/>
        </p:spPr>
        <p:txBody>
          <a:bodyPr wrap="square" lIns="25400" tIns="25400" rIns="25400" bIns="25400" rtlCol="0" anchor="t">
            <a:normAutofit/>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SLAs configured in the system activate the moment the consult is queued. If a step falls behind the platform escalates automatically — no manager has to chase it down.</a:t>
            </a:r>
            <a:endParaRPr lang="en-US" sz="975" dirty="0"/>
          </a:p>
        </p:txBody>
      </p:sp>
      <p:sp>
        <p:nvSpPr>
          <p:cNvPr id="91" name="Shape 89"/>
          <p:cNvSpPr/>
          <p:nvPr/>
        </p:nvSpPr>
        <p:spPr>
          <a:xfrm>
            <a:off x="13045901" y="7286253"/>
            <a:ext cx="902494" cy="176213"/>
          </a:xfrm>
          <a:prstGeom prst="roundRect">
            <a:avLst>
              <a:gd name="adj" fmla="val 37838"/>
            </a:avLst>
          </a:prstGeom>
          <a:solidFill>
            <a:srgbClr val="DCFCE7"/>
          </a:solidFill>
          <a:ln/>
        </p:spPr>
      </p:sp>
      <p:sp>
        <p:nvSpPr>
          <p:cNvPr id="92" name="Text 90"/>
          <p:cNvSpPr/>
          <p:nvPr/>
        </p:nvSpPr>
        <p:spPr>
          <a:xfrm>
            <a:off x="13122101" y="730530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93" name="Text 91"/>
          <p:cNvSpPr/>
          <p:nvPr/>
        </p:nvSpPr>
        <p:spPr>
          <a:xfrm>
            <a:off x="126238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94" name="Shape 92"/>
          <p:cNvSpPr/>
          <p:nvPr/>
        </p:nvSpPr>
        <p:spPr>
          <a:xfrm>
            <a:off x="7938864" y="6151959"/>
            <a:ext cx="4618286" cy="1439094"/>
          </a:xfrm>
          <a:prstGeom prst="roundRect">
            <a:avLst>
              <a:gd name="adj" fmla="val 7942"/>
            </a:avLst>
          </a:prstGeom>
          <a:solidFill>
            <a:srgbClr val="FAFAFA"/>
          </a:solidFill>
          <a:ln/>
        </p:spPr>
      </p:sp>
      <p:sp>
        <p:nvSpPr>
          <p:cNvPr id="95" name="Shape 93"/>
          <p:cNvSpPr/>
          <p:nvPr/>
        </p:nvSpPr>
        <p:spPr>
          <a:xfrm>
            <a:off x="7938864" y="7576765"/>
            <a:ext cx="4618286" cy="14288"/>
          </a:xfrm>
          <a:prstGeom prst="rect">
            <a:avLst/>
          </a:prstGeom>
          <a:solidFill>
            <a:srgbClr val="E5E0D8"/>
          </a:solidFill>
          <a:ln/>
        </p:spPr>
      </p:sp>
      <p:sp>
        <p:nvSpPr>
          <p:cNvPr id="96" name="Shape 94"/>
          <p:cNvSpPr/>
          <p:nvPr/>
        </p:nvSpPr>
        <p:spPr>
          <a:xfrm>
            <a:off x="7938864" y="6151959"/>
            <a:ext cx="4618286" cy="38100"/>
          </a:xfrm>
          <a:prstGeom prst="rect">
            <a:avLst/>
          </a:prstGeom>
          <a:solidFill>
            <a:srgbClr val="6D28D9"/>
          </a:solidFill>
          <a:ln/>
        </p:spPr>
      </p:sp>
      <p:sp>
        <p:nvSpPr>
          <p:cNvPr id="97" name="Shape 95"/>
          <p:cNvSpPr/>
          <p:nvPr/>
        </p:nvSpPr>
        <p:spPr>
          <a:xfrm>
            <a:off x="7938864" y="6151959"/>
            <a:ext cx="14288" cy="1439094"/>
          </a:xfrm>
          <a:prstGeom prst="rect">
            <a:avLst/>
          </a:prstGeom>
          <a:solidFill>
            <a:srgbClr val="E5E0D8"/>
          </a:solidFill>
          <a:ln/>
        </p:spPr>
      </p:sp>
      <p:sp>
        <p:nvSpPr>
          <p:cNvPr id="98" name="Shape 96"/>
          <p:cNvSpPr/>
          <p:nvPr/>
        </p:nvSpPr>
        <p:spPr>
          <a:xfrm>
            <a:off x="12542862" y="6151959"/>
            <a:ext cx="14288" cy="1439094"/>
          </a:xfrm>
          <a:prstGeom prst="rect">
            <a:avLst/>
          </a:prstGeom>
          <a:solidFill>
            <a:srgbClr val="E5E0D8"/>
          </a:solidFill>
          <a:ln/>
        </p:spPr>
      </p:sp>
      <p:sp>
        <p:nvSpPr>
          <p:cNvPr id="99" name="Text 97"/>
          <p:cNvSpPr/>
          <p:nvPr/>
        </p:nvSpPr>
        <p:spPr>
          <a:xfrm>
            <a:off x="8086502" y="6304359"/>
            <a:ext cx="4755312"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5</a:t>
            </a:r>
            <a:endParaRPr lang="en-US" sz="900" dirty="0"/>
          </a:p>
        </p:txBody>
      </p:sp>
      <p:sp>
        <p:nvSpPr>
          <p:cNvPr id="100" name="Text 98"/>
          <p:cNvSpPr/>
          <p:nvPr/>
        </p:nvSpPr>
        <p:spPr>
          <a:xfrm>
            <a:off x="8086502" y="6480572"/>
            <a:ext cx="4755312"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Are There Any Issues?</a:t>
            </a:r>
            <a:endParaRPr lang="en-US" sz="1125" dirty="0"/>
          </a:p>
        </p:txBody>
      </p:sp>
      <p:sp>
        <p:nvSpPr>
          <p:cNvPr id="101" name="Text 99"/>
          <p:cNvSpPr/>
          <p:nvPr/>
        </p:nvSpPr>
        <p:spPr>
          <a:xfrm>
            <a:off x="8086502" y="6690122"/>
            <a:ext cx="4452701"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Adverse effects, delays and unresolved items are flagged automatically and escalated to the right person before they become a problem.</a:t>
            </a:r>
            <a:endParaRPr lang="en-US" sz="975" dirty="0"/>
          </a:p>
        </p:txBody>
      </p:sp>
      <p:sp>
        <p:nvSpPr>
          <p:cNvPr id="102" name="Shape 100"/>
          <p:cNvSpPr/>
          <p:nvPr/>
        </p:nvSpPr>
        <p:spPr>
          <a:xfrm>
            <a:off x="8086502" y="7112943"/>
            <a:ext cx="902494" cy="176213"/>
          </a:xfrm>
          <a:prstGeom prst="roundRect">
            <a:avLst>
              <a:gd name="adj" fmla="val 37838"/>
            </a:avLst>
          </a:prstGeom>
          <a:solidFill>
            <a:srgbClr val="DCFCE7"/>
          </a:solidFill>
          <a:ln/>
        </p:spPr>
      </p:sp>
      <p:sp>
        <p:nvSpPr>
          <p:cNvPr id="103" name="Text 101"/>
          <p:cNvSpPr/>
          <p:nvPr/>
        </p:nvSpPr>
        <p:spPr>
          <a:xfrm>
            <a:off x="8162702"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04" name="Text 102"/>
          <p:cNvSpPr/>
          <p:nvPr/>
        </p:nvSpPr>
        <p:spPr>
          <a:xfrm>
            <a:off x="7664425"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05" name="Shape 103"/>
          <p:cNvSpPr/>
          <p:nvPr/>
        </p:nvSpPr>
        <p:spPr>
          <a:xfrm>
            <a:off x="2979539" y="6151959"/>
            <a:ext cx="4618211" cy="1439094"/>
          </a:xfrm>
          <a:prstGeom prst="roundRect">
            <a:avLst>
              <a:gd name="adj" fmla="val 7942"/>
            </a:avLst>
          </a:prstGeom>
          <a:solidFill>
            <a:srgbClr val="FAFAFA"/>
          </a:solidFill>
          <a:ln/>
        </p:spPr>
      </p:sp>
      <p:sp>
        <p:nvSpPr>
          <p:cNvPr id="106" name="Shape 104"/>
          <p:cNvSpPr/>
          <p:nvPr/>
        </p:nvSpPr>
        <p:spPr>
          <a:xfrm>
            <a:off x="2979539" y="7576765"/>
            <a:ext cx="4618211" cy="14288"/>
          </a:xfrm>
          <a:prstGeom prst="rect">
            <a:avLst/>
          </a:prstGeom>
          <a:solidFill>
            <a:srgbClr val="E5E0D8"/>
          </a:solidFill>
          <a:ln/>
        </p:spPr>
      </p:sp>
      <p:sp>
        <p:nvSpPr>
          <p:cNvPr id="107" name="Shape 105"/>
          <p:cNvSpPr/>
          <p:nvPr/>
        </p:nvSpPr>
        <p:spPr>
          <a:xfrm>
            <a:off x="2979539" y="6151959"/>
            <a:ext cx="4618211" cy="38100"/>
          </a:xfrm>
          <a:prstGeom prst="rect">
            <a:avLst/>
          </a:prstGeom>
          <a:solidFill>
            <a:srgbClr val="6D28D9"/>
          </a:solidFill>
          <a:ln/>
        </p:spPr>
      </p:sp>
      <p:sp>
        <p:nvSpPr>
          <p:cNvPr id="108" name="Shape 106"/>
          <p:cNvSpPr/>
          <p:nvPr/>
        </p:nvSpPr>
        <p:spPr>
          <a:xfrm>
            <a:off x="2979539" y="6151959"/>
            <a:ext cx="14288" cy="1439094"/>
          </a:xfrm>
          <a:prstGeom prst="rect">
            <a:avLst/>
          </a:prstGeom>
          <a:solidFill>
            <a:srgbClr val="E5E0D8"/>
          </a:solidFill>
          <a:ln/>
        </p:spPr>
      </p:sp>
      <p:sp>
        <p:nvSpPr>
          <p:cNvPr id="109" name="Shape 107"/>
          <p:cNvSpPr/>
          <p:nvPr/>
        </p:nvSpPr>
        <p:spPr>
          <a:xfrm>
            <a:off x="7583463" y="6151959"/>
            <a:ext cx="14288" cy="1439094"/>
          </a:xfrm>
          <a:prstGeom prst="rect">
            <a:avLst/>
          </a:prstGeom>
          <a:solidFill>
            <a:srgbClr val="E5E0D8"/>
          </a:solidFill>
          <a:ln/>
        </p:spPr>
      </p:sp>
      <p:sp>
        <p:nvSpPr>
          <p:cNvPr id="110" name="Text 108"/>
          <p:cNvSpPr/>
          <p:nvPr/>
        </p:nvSpPr>
        <p:spPr>
          <a:xfrm>
            <a:off x="3127177" y="6304359"/>
            <a:ext cx="4755230"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6D28D9"/>
                </a:solidFill>
                <a:latin typeface="Inter" pitchFamily="34" charset="0"/>
                <a:ea typeface="Inter" pitchFamily="34" charset="-122"/>
                <a:cs typeface="Inter" pitchFamily="34" charset="-120"/>
              </a:rPr>
              <a:t>STEP 6</a:t>
            </a:r>
            <a:endParaRPr lang="en-US" sz="900" dirty="0"/>
          </a:p>
        </p:txBody>
      </p:sp>
      <p:sp>
        <p:nvSpPr>
          <p:cNvPr id="111" name="Text 109"/>
          <p:cNvSpPr/>
          <p:nvPr/>
        </p:nvSpPr>
        <p:spPr>
          <a:xfrm>
            <a:off x="3127177" y="6480572"/>
            <a:ext cx="4755230"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111827"/>
                </a:solidFill>
                <a:latin typeface="Inter" pitchFamily="34" charset="0"/>
                <a:ea typeface="Inter" pitchFamily="34" charset="-122"/>
                <a:cs typeface="Inter" pitchFamily="34" charset="-120"/>
              </a:rPr>
              <a:t>Is Everything Resolved?</a:t>
            </a:r>
            <a:endParaRPr lang="en-US" sz="1125" dirty="0"/>
          </a:p>
        </p:txBody>
      </p:sp>
      <p:sp>
        <p:nvSpPr>
          <p:cNvPr id="112" name="Text 110"/>
          <p:cNvSpPr/>
          <p:nvPr/>
        </p:nvSpPr>
        <p:spPr>
          <a:xfrm>
            <a:off x="3127177" y="6690122"/>
            <a:ext cx="4452624"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975" dirty="0">
                <a:solidFill>
                  <a:srgbClr val="6B7280"/>
                </a:solidFill>
                <a:latin typeface="Inter" pitchFamily="34" charset="0"/>
                <a:ea typeface="Inter" pitchFamily="34" charset="-122"/>
                <a:cs typeface="Inter" pitchFamily="34" charset="-120"/>
              </a:rPr>
              <a:t>Before closing, the platform confirms all required steps are complete, all parties have signed off and the record is ready for billing and compliance.</a:t>
            </a:r>
            <a:endParaRPr lang="en-US" sz="975" dirty="0"/>
          </a:p>
        </p:txBody>
      </p:sp>
      <p:sp>
        <p:nvSpPr>
          <p:cNvPr id="113" name="Shape 111"/>
          <p:cNvSpPr/>
          <p:nvPr/>
        </p:nvSpPr>
        <p:spPr>
          <a:xfrm>
            <a:off x="3127177" y="7112943"/>
            <a:ext cx="902494" cy="176213"/>
          </a:xfrm>
          <a:prstGeom prst="roundRect">
            <a:avLst>
              <a:gd name="adj" fmla="val 37838"/>
            </a:avLst>
          </a:prstGeom>
          <a:solidFill>
            <a:srgbClr val="DCFCE7"/>
          </a:solidFill>
          <a:ln/>
        </p:spPr>
      </p:sp>
      <p:sp>
        <p:nvSpPr>
          <p:cNvPr id="114" name="Text 112"/>
          <p:cNvSpPr/>
          <p:nvPr/>
        </p:nvSpPr>
        <p:spPr>
          <a:xfrm>
            <a:off x="3203377" y="7131993"/>
            <a:ext cx="840343" cy="176213"/>
          </a:xfrm>
          <a:prstGeom prst="rect">
            <a:avLst/>
          </a:prstGeom>
          <a:noFill/>
          <a:ln/>
        </p:spPr>
        <p:txBody>
          <a:bodyPr wrap="square" lIns="25400" tIns="25400" rIns="25400" bIns="25400" rtlCol="0" anchor="ctr">
            <a:normAutofit lnSpcReduction="10000"/>
          </a:bodyPr>
          <a:lstStyle/>
          <a:p>
            <a:pPr marL="0" indent="0" algn="l">
              <a:buNone/>
            </a:pPr>
            <a:r>
              <a:rPr lang="en-US" sz="900" b="1" dirty="0">
                <a:solidFill>
                  <a:srgbClr val="059669"/>
                </a:solidFill>
                <a:latin typeface="Inter" pitchFamily="34" charset="0"/>
                <a:ea typeface="Inter" pitchFamily="34" charset="-122"/>
                <a:cs typeface="Inter" pitchFamily="34" charset="-120"/>
              </a:rPr>
              <a:t>✓ Automated</a:t>
            </a:r>
            <a:endParaRPr lang="en-US" sz="900" dirty="0"/>
          </a:p>
        </p:txBody>
      </p:sp>
      <p:sp>
        <p:nvSpPr>
          <p:cNvPr id="115" name="Text 113"/>
          <p:cNvSpPr/>
          <p:nvPr/>
        </p:nvSpPr>
        <p:spPr>
          <a:xfrm>
            <a:off x="2705100" y="6151959"/>
            <a:ext cx="283964" cy="1477194"/>
          </a:xfrm>
          <a:prstGeom prst="rect">
            <a:avLst/>
          </a:prstGeom>
          <a:noFill/>
          <a:ln/>
        </p:spPr>
        <p:txBody>
          <a:bodyPr wrap="square" lIns="25400" tIns="25400" rIns="25400" bIns="25400" rtlCol="0" anchor="ctr">
            <a:normAutofit/>
          </a:bodyPr>
          <a:lstStyle/>
          <a:p>
            <a:pPr marL="0" indent="0" algn="l">
              <a:buNone/>
            </a:pPr>
            <a:r>
              <a:rPr lang="en-US" sz="1800" dirty="0">
                <a:solidFill>
                  <a:srgbClr val="6D28D9"/>
                </a:solidFill>
                <a:latin typeface="Inter" pitchFamily="34" charset="0"/>
                <a:ea typeface="Inter" pitchFamily="34" charset="-122"/>
                <a:cs typeface="Inter" pitchFamily="34" charset="-120"/>
              </a:rPr>
              <a:t>←</a:t>
            </a:r>
            <a:endParaRPr lang="en-US" sz="1800" dirty="0"/>
          </a:p>
        </p:txBody>
      </p:sp>
      <p:sp>
        <p:nvSpPr>
          <p:cNvPr id="116" name="Shape 114"/>
          <p:cNvSpPr/>
          <p:nvPr/>
        </p:nvSpPr>
        <p:spPr>
          <a:xfrm>
            <a:off x="771525" y="6151959"/>
            <a:ext cx="1866900" cy="1310507"/>
          </a:xfrm>
          <a:prstGeom prst="roundRect">
            <a:avLst>
              <a:gd name="adj" fmla="val 7942"/>
            </a:avLst>
          </a:prstGeom>
          <a:solidFill>
            <a:srgbClr val="6D28D9"/>
          </a:solidFill>
          <a:ln/>
        </p:spPr>
      </p:sp>
      <p:sp>
        <p:nvSpPr>
          <p:cNvPr id="117" name="Text 115"/>
          <p:cNvSpPr/>
          <p:nvPr/>
        </p:nvSpPr>
        <p:spPr>
          <a:xfrm>
            <a:off x="914400" y="6513835"/>
            <a:ext cx="1739265" cy="176212"/>
          </a:xfrm>
          <a:prstGeom prst="rect">
            <a:avLst/>
          </a:prstGeom>
          <a:noFill/>
          <a:ln/>
        </p:spPr>
        <p:txBody>
          <a:bodyPr wrap="square" lIns="25400" tIns="25400" rIns="25400" bIns="25400" rtlCol="0" anchor="t">
            <a:normAutofit lnSpcReduction="10000"/>
          </a:bodyPr>
          <a:lstStyle/>
          <a:p>
            <a:pPr marL="0" indent="0" algn="l">
              <a:buNone/>
            </a:pPr>
            <a:r>
              <a:rPr lang="en-US" sz="900" b="1" kern="0" spc="54" dirty="0">
                <a:solidFill>
                  <a:srgbClr val="C4B5FD"/>
                </a:solidFill>
                <a:latin typeface="Inter" pitchFamily="34" charset="0"/>
                <a:ea typeface="Inter" pitchFamily="34" charset="-122"/>
                <a:cs typeface="Inter" pitchFamily="34" charset="-120"/>
              </a:rPr>
              <a:t>JOURNEY COMPLETE</a:t>
            </a:r>
            <a:endParaRPr lang="en-US" sz="900" dirty="0"/>
          </a:p>
        </p:txBody>
      </p:sp>
      <p:sp>
        <p:nvSpPr>
          <p:cNvPr id="118" name="Text 116"/>
          <p:cNvSpPr/>
          <p:nvPr/>
        </p:nvSpPr>
        <p:spPr>
          <a:xfrm>
            <a:off x="914400" y="6699572"/>
            <a:ext cx="1739265" cy="209550"/>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FFFFFF"/>
                </a:solidFill>
                <a:latin typeface="Inter" pitchFamily="34" charset="0"/>
                <a:ea typeface="Inter" pitchFamily="34" charset="-122"/>
                <a:cs typeface="Inter" pitchFamily="34" charset="-120"/>
              </a:rPr>
              <a:t>Consult Closed</a:t>
            </a:r>
            <a:endParaRPr lang="en-US" sz="1125" dirty="0"/>
          </a:p>
        </p:txBody>
      </p:sp>
      <p:sp>
        <p:nvSpPr>
          <p:cNvPr id="119" name="Text 117"/>
          <p:cNvSpPr/>
          <p:nvPr/>
        </p:nvSpPr>
        <p:spPr>
          <a:xfrm>
            <a:off x="914400" y="6909122"/>
            <a:ext cx="1657350" cy="3580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900" dirty="0">
                <a:solidFill>
                  <a:srgbClr val="C4B5FD"/>
                </a:solidFill>
                <a:latin typeface="Inter" pitchFamily="34" charset="0"/>
                <a:ea typeface="Inter" pitchFamily="34" charset="-122"/>
                <a:cs typeface="Inter" pitchFamily="34" charset="-120"/>
              </a:rPr>
              <a:t>Audit logged. Billing triggered. Patient notified.</a:t>
            </a:r>
            <a:endParaRPr lang="en-US" sz="900" dirty="0"/>
          </a:p>
        </p:txBody>
      </p:sp>
      <p:sp>
        <p:nvSpPr>
          <p:cNvPr id="120" name="Shape 118"/>
          <p:cNvSpPr/>
          <p:nvPr/>
        </p:nvSpPr>
        <p:spPr>
          <a:xfrm>
            <a:off x="771525" y="7705353"/>
            <a:ext cx="16744950" cy="528637"/>
          </a:xfrm>
          <a:prstGeom prst="roundRect">
            <a:avLst>
              <a:gd name="adj" fmla="val 13333"/>
            </a:avLst>
          </a:prstGeom>
          <a:solidFill>
            <a:srgbClr val="F5F3FF"/>
          </a:solidFill>
          <a:ln/>
        </p:spPr>
      </p:sp>
      <p:sp>
        <p:nvSpPr>
          <p:cNvPr id="121" name="Shape 119"/>
          <p:cNvSpPr/>
          <p:nvPr/>
        </p:nvSpPr>
        <p:spPr>
          <a:xfrm>
            <a:off x="771525" y="7701003"/>
            <a:ext cx="16744950" cy="9525"/>
          </a:xfrm>
          <a:prstGeom prst="rect">
            <a:avLst/>
          </a:prstGeom>
          <a:solidFill>
            <a:srgbClr val="DDD6FE"/>
          </a:solidFill>
          <a:ln/>
        </p:spPr>
      </p:sp>
      <p:sp>
        <p:nvSpPr>
          <p:cNvPr id="122" name="Shape 120"/>
          <p:cNvSpPr/>
          <p:nvPr/>
        </p:nvSpPr>
        <p:spPr>
          <a:xfrm>
            <a:off x="771525" y="7705353"/>
            <a:ext cx="16744950" cy="9525"/>
          </a:xfrm>
          <a:prstGeom prst="rect">
            <a:avLst/>
          </a:prstGeom>
          <a:solidFill>
            <a:srgbClr val="DDD6FE"/>
          </a:solidFill>
          <a:ln/>
        </p:spPr>
      </p:sp>
      <p:sp>
        <p:nvSpPr>
          <p:cNvPr id="123" name="Shape 121"/>
          <p:cNvSpPr/>
          <p:nvPr/>
        </p:nvSpPr>
        <p:spPr>
          <a:xfrm>
            <a:off x="771525" y="7705353"/>
            <a:ext cx="57150" cy="714375"/>
          </a:xfrm>
          <a:prstGeom prst="rect">
            <a:avLst/>
          </a:prstGeom>
          <a:solidFill>
            <a:srgbClr val="6D28D9"/>
          </a:solidFill>
          <a:ln/>
        </p:spPr>
      </p:sp>
      <p:sp>
        <p:nvSpPr>
          <p:cNvPr id="124" name="Shape 122"/>
          <p:cNvSpPr/>
          <p:nvPr/>
        </p:nvSpPr>
        <p:spPr>
          <a:xfrm>
            <a:off x="17506950" y="7705353"/>
            <a:ext cx="9525" cy="714375"/>
          </a:xfrm>
          <a:prstGeom prst="rect">
            <a:avLst/>
          </a:prstGeom>
          <a:solidFill>
            <a:srgbClr val="DDD6FE"/>
          </a:solidFill>
          <a:ln/>
        </p:spPr>
      </p:sp>
      <p:sp>
        <p:nvSpPr>
          <p:cNvPr id="125" name="Text 123"/>
          <p:cNvSpPr/>
          <p:nvPr/>
        </p:nvSpPr>
        <p:spPr>
          <a:xfrm>
            <a:off x="1000125" y="7810128"/>
            <a:ext cx="4036048" cy="223838"/>
          </a:xfrm>
          <a:prstGeom prst="rect">
            <a:avLst/>
          </a:prstGeom>
          <a:noFill/>
          <a:ln/>
        </p:spPr>
        <p:txBody>
          <a:bodyPr wrap="none" lIns="25400" tIns="25400" rIns="25400" bIns="25400" rtlCol="0" anchor="t">
            <a:normAutofit/>
          </a:bodyPr>
          <a:lstStyle/>
          <a:p>
            <a:pPr marL="0" indent="0" algn="l">
              <a:buNone/>
            </a:pPr>
            <a:r>
              <a:rPr lang="en-US" sz="1125" b="1" dirty="0">
                <a:solidFill>
                  <a:srgbClr val="5B21B6"/>
                </a:solidFill>
                <a:latin typeface="Inter" pitchFamily="34" charset="0"/>
                <a:ea typeface="Inter" pitchFamily="34" charset="-122"/>
                <a:cs typeface="Inter" pitchFamily="34" charset="-120"/>
              </a:rPr>
              <a:t>🕐 Running Across Every Active Consult at All Times</a:t>
            </a:r>
            <a:endParaRPr lang="en-US" sz="1125" dirty="0"/>
          </a:p>
        </p:txBody>
      </p:sp>
      <p:sp>
        <p:nvSpPr>
          <p:cNvPr id="126" name="Shape 124"/>
          <p:cNvSpPr/>
          <p:nvPr/>
        </p:nvSpPr>
        <p:spPr>
          <a:xfrm>
            <a:off x="1000125" y="8026822"/>
            <a:ext cx="85725" cy="85725"/>
          </a:xfrm>
          <a:prstGeom prst="ellipse">
            <a:avLst/>
          </a:prstGeom>
          <a:solidFill>
            <a:srgbClr val="6D28D9"/>
          </a:solidFill>
          <a:ln/>
        </p:spPr>
      </p:sp>
      <p:sp>
        <p:nvSpPr>
          <p:cNvPr id="127" name="Text 125"/>
          <p:cNvSpPr/>
          <p:nvPr/>
        </p:nvSpPr>
        <p:spPr>
          <a:xfrm>
            <a:off x="1143000" y="7995865"/>
            <a:ext cx="218219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Every step timestamped and logged</a:t>
            </a:r>
            <a:endParaRPr lang="en-US" sz="975" dirty="0"/>
          </a:p>
        </p:txBody>
      </p:sp>
      <p:sp>
        <p:nvSpPr>
          <p:cNvPr id="128" name="Shape 126"/>
          <p:cNvSpPr/>
          <p:nvPr/>
        </p:nvSpPr>
        <p:spPr>
          <a:xfrm>
            <a:off x="3401392" y="8026822"/>
            <a:ext cx="85725" cy="85725"/>
          </a:xfrm>
          <a:prstGeom prst="ellipse">
            <a:avLst/>
          </a:prstGeom>
          <a:solidFill>
            <a:srgbClr val="DC2626"/>
          </a:solidFill>
          <a:ln/>
        </p:spPr>
      </p:sp>
      <p:sp>
        <p:nvSpPr>
          <p:cNvPr id="129" name="Text 127"/>
          <p:cNvSpPr/>
          <p:nvPr/>
        </p:nvSpPr>
        <p:spPr>
          <a:xfrm>
            <a:off x="3544267" y="7995865"/>
            <a:ext cx="2041922"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SLAs trigger automatic escalation</a:t>
            </a:r>
            <a:endParaRPr lang="en-US" sz="975" dirty="0"/>
          </a:p>
        </p:txBody>
      </p:sp>
      <p:sp>
        <p:nvSpPr>
          <p:cNvPr id="130" name="Shape 128"/>
          <p:cNvSpPr/>
          <p:nvPr/>
        </p:nvSpPr>
        <p:spPr>
          <a:xfrm>
            <a:off x="5662389" y="8026822"/>
            <a:ext cx="85725" cy="85725"/>
          </a:xfrm>
          <a:prstGeom prst="ellipse">
            <a:avLst/>
          </a:prstGeom>
          <a:solidFill>
            <a:srgbClr val="D97706"/>
          </a:solidFill>
          <a:ln/>
        </p:spPr>
      </p:sp>
      <p:sp>
        <p:nvSpPr>
          <p:cNvPr id="131" name="Text 129"/>
          <p:cNvSpPr/>
          <p:nvPr/>
        </p:nvSpPr>
        <p:spPr>
          <a:xfrm>
            <a:off x="5805264" y="7995865"/>
            <a:ext cx="2949357"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Adverse effects surfaced for immediate attention</a:t>
            </a:r>
            <a:endParaRPr lang="en-US" sz="975" dirty="0"/>
          </a:p>
        </p:txBody>
      </p:sp>
      <p:sp>
        <p:nvSpPr>
          <p:cNvPr id="132" name="Shape 130"/>
          <p:cNvSpPr/>
          <p:nvPr/>
        </p:nvSpPr>
        <p:spPr>
          <a:xfrm>
            <a:off x="8821117" y="8026822"/>
            <a:ext cx="85725" cy="85725"/>
          </a:xfrm>
          <a:prstGeom prst="ellipse">
            <a:avLst/>
          </a:prstGeom>
          <a:solidFill>
            <a:srgbClr val="059669"/>
          </a:solidFill>
          <a:ln/>
        </p:spPr>
      </p:sp>
      <p:sp>
        <p:nvSpPr>
          <p:cNvPr id="133" name="Text 131"/>
          <p:cNvSpPr/>
          <p:nvPr/>
        </p:nvSpPr>
        <p:spPr>
          <a:xfrm>
            <a:off x="8963992" y="7995865"/>
            <a:ext cx="2640395"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Full compliance record captured in real time</a:t>
            </a:r>
            <a:endParaRPr lang="en-US" sz="975" dirty="0"/>
          </a:p>
        </p:txBody>
      </p:sp>
      <p:sp>
        <p:nvSpPr>
          <p:cNvPr id="134" name="Shape 132"/>
          <p:cNvSpPr/>
          <p:nvPr/>
        </p:nvSpPr>
        <p:spPr>
          <a:xfrm>
            <a:off x="11679882" y="8026822"/>
            <a:ext cx="85725" cy="85725"/>
          </a:xfrm>
          <a:prstGeom prst="ellipse">
            <a:avLst/>
          </a:prstGeom>
          <a:solidFill>
            <a:srgbClr val="0369A1"/>
          </a:solidFill>
          <a:ln/>
        </p:spPr>
      </p:sp>
      <p:sp>
        <p:nvSpPr>
          <p:cNvPr id="135" name="Text 133"/>
          <p:cNvSpPr/>
          <p:nvPr/>
        </p:nvSpPr>
        <p:spPr>
          <a:xfrm>
            <a:off x="11822757" y="7995865"/>
            <a:ext cx="2787633" cy="185738"/>
          </a:xfrm>
          <a:prstGeom prst="rect">
            <a:avLst/>
          </a:prstGeom>
          <a:noFill/>
          <a:ln/>
        </p:spPr>
        <p:txBody>
          <a:bodyPr wrap="square" lIns="0" tIns="0" rIns="0" bIns="0" rtlCol="0" anchor="t">
            <a:normAutofit/>
          </a:bodyPr>
          <a:lstStyle/>
          <a:p>
            <a:pPr marL="0" indent="0" algn="l">
              <a:buNone/>
            </a:pPr>
            <a:r>
              <a:rPr lang="en-US" sz="975" dirty="0">
                <a:solidFill>
                  <a:srgbClr val="374151"/>
                </a:solidFill>
                <a:latin typeface="Inter" pitchFamily="34" charset="0"/>
                <a:ea typeface="Inter" pitchFamily="34" charset="-122"/>
                <a:cs typeface="Inter" pitchFamily="34" charset="-120"/>
              </a:rPr>
              <a:t>Care team has visibility across all active cases</a:t>
            </a:r>
            <a:endParaRPr lang="en-US" sz="975" dirty="0"/>
          </a:p>
        </p:txBody>
      </p:sp>
      <p:sp>
        <p:nvSpPr>
          <p:cNvPr id="136" name="Text 134"/>
          <p:cNvSpPr/>
          <p:nvPr/>
        </p:nvSpPr>
        <p:spPr>
          <a:xfrm>
            <a:off x="6229350" y="7831943"/>
            <a:ext cx="6377933" cy="185738"/>
          </a:xfrm>
          <a:prstGeom prst="rect">
            <a:avLst/>
          </a:prstGeom>
          <a:noFill/>
          <a:ln/>
        </p:spPr>
        <p:txBody>
          <a:bodyPr wrap="square" lIns="25400" tIns="25400" rIns="25400" bIns="25400" rtlCol="0" anchor="t">
            <a:normAutofit lnSpcReduction="10000"/>
          </a:bodyPr>
          <a:lstStyle/>
          <a:p>
            <a:pPr marL="0" indent="0" algn="l">
              <a:buNone/>
            </a:pPr>
            <a:r>
              <a:rPr lang="en-US" sz="975" b="1" kern="0" spc="49" dirty="0">
                <a:solidFill>
                  <a:srgbClr val="9CA3AF"/>
                </a:solidFill>
                <a:latin typeface="Inter" pitchFamily="34" charset="0"/>
                <a:ea typeface="Inter" pitchFamily="34" charset="-122"/>
                <a:cs typeface="Inter" pitchFamily="34" charset="-120"/>
              </a:rPr>
              <a:t>↓ WORK LANDS AUTOMATICALLY IN THE RIGHT QUEUE — NO MANUAL ASSIGNMENT ↓</a:t>
            </a:r>
            <a:endParaRPr lang="en-US" sz="975" dirty="0"/>
          </a:p>
        </p:txBody>
      </p:sp>
      <p:sp>
        <p:nvSpPr>
          <p:cNvPr id="137" name="Shape 135"/>
          <p:cNvSpPr/>
          <p:nvPr/>
        </p:nvSpPr>
        <p:spPr>
          <a:xfrm>
            <a:off x="533400" y="8199686"/>
            <a:ext cx="17221200" cy="2087314"/>
          </a:xfrm>
          <a:prstGeom prst="roundRect">
            <a:avLst>
              <a:gd name="adj" fmla="val 6389"/>
            </a:avLst>
          </a:prstGeom>
          <a:solidFill>
            <a:srgbClr val="FFFFFF"/>
          </a:solidFill>
          <a:ln w="19050">
            <a:solidFill>
              <a:srgbClr val="E5E0D8"/>
            </a:solidFill>
            <a:prstDash val="solid"/>
          </a:ln>
        </p:spPr>
      </p:sp>
      <p:sp>
        <p:nvSpPr>
          <p:cNvPr id="138" name="Text 136"/>
          <p:cNvSpPr/>
          <p:nvPr/>
        </p:nvSpPr>
        <p:spPr>
          <a:xfrm>
            <a:off x="762000" y="8324890"/>
            <a:ext cx="18440400" cy="257175"/>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111827"/>
                </a:solidFill>
                <a:latin typeface="Inter" pitchFamily="34" charset="0"/>
                <a:ea typeface="Inter" pitchFamily="34" charset="-122"/>
                <a:cs typeface="Inter" pitchFamily="34" charset="-120"/>
              </a:rPr>
              <a:t>Work Delivered to the </a:t>
            </a:r>
            <a:r>
              <a:rPr lang="en-US" sz="1425" b="1" dirty="0">
                <a:solidFill>
                  <a:srgbClr val="6D28D9"/>
                </a:solidFill>
                <a:latin typeface="Inter" pitchFamily="34" charset="0"/>
                <a:ea typeface="Inter" pitchFamily="34" charset="-122"/>
                <a:cs typeface="Inter" pitchFamily="34" charset="-120"/>
              </a:rPr>
              <a:t>Right Person Automatically</a:t>
            </a:r>
            <a:endParaRPr lang="en-US" sz="1425" dirty="0"/>
          </a:p>
        </p:txBody>
      </p:sp>
      <p:sp>
        <p:nvSpPr>
          <p:cNvPr id="139" name="Shape 137"/>
          <p:cNvSpPr/>
          <p:nvPr/>
        </p:nvSpPr>
        <p:spPr>
          <a:xfrm>
            <a:off x="762000" y="8658265"/>
            <a:ext cx="2698700" cy="1449139"/>
          </a:xfrm>
          <a:prstGeom prst="roundRect">
            <a:avLst>
              <a:gd name="adj" fmla="val 6573"/>
            </a:avLst>
          </a:prstGeom>
          <a:ln w="9525">
            <a:solidFill>
              <a:srgbClr val="E5E0D8"/>
            </a:solidFill>
            <a:prstDash val="solid"/>
          </a:ln>
        </p:spPr>
      </p:sp>
      <p:sp>
        <p:nvSpPr>
          <p:cNvPr id="140" name="Shape 138"/>
          <p:cNvSpPr/>
          <p:nvPr/>
        </p:nvSpPr>
        <p:spPr>
          <a:xfrm>
            <a:off x="895350" y="8782090"/>
            <a:ext cx="266700" cy="266700"/>
          </a:xfrm>
          <a:prstGeom prst="ellipse">
            <a:avLst/>
          </a:prstGeom>
          <a:solidFill>
            <a:srgbClr val="6D28D9"/>
          </a:solidFill>
          <a:ln/>
        </p:spPr>
      </p:sp>
      <p:sp>
        <p:nvSpPr>
          <p:cNvPr id="141" name="Text 139"/>
          <p:cNvSpPr/>
          <p:nvPr/>
        </p:nvSpPr>
        <p:spPr>
          <a:xfrm>
            <a:off x="85725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MD</a:t>
            </a:r>
            <a:endParaRPr lang="en-US" sz="825" dirty="0"/>
          </a:p>
        </p:txBody>
      </p:sp>
      <p:sp>
        <p:nvSpPr>
          <p:cNvPr id="142" name="Text 140"/>
          <p:cNvSpPr/>
          <p:nvPr/>
        </p:nvSpPr>
        <p:spPr>
          <a:xfrm>
            <a:off x="1228725" y="8834478"/>
            <a:ext cx="1012627"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Physician / NP</a:t>
            </a:r>
            <a:endParaRPr lang="en-US" sz="1050" dirty="0"/>
          </a:p>
        </p:txBody>
      </p:sp>
      <p:sp>
        <p:nvSpPr>
          <p:cNvPr id="143" name="Text 141"/>
          <p:cNvSpPr/>
          <p:nvPr/>
        </p:nvSpPr>
        <p:spPr>
          <a:xfrm>
            <a:off x="89535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4" name="Text 142"/>
          <p:cNvSpPr/>
          <p:nvPr/>
        </p:nvSpPr>
        <p:spPr>
          <a:xfrm>
            <a:off x="1022152" y="9144040"/>
            <a:ext cx="926455"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Consult queue</a:t>
            </a:r>
            <a:endParaRPr lang="en-US" sz="975" dirty="0"/>
          </a:p>
        </p:txBody>
      </p:sp>
      <p:sp>
        <p:nvSpPr>
          <p:cNvPr id="145" name="Text 143"/>
          <p:cNvSpPr/>
          <p:nvPr/>
        </p:nvSpPr>
        <p:spPr>
          <a:xfrm>
            <a:off x="89535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6" name="Text 144"/>
          <p:cNvSpPr/>
          <p:nvPr/>
        </p:nvSpPr>
        <p:spPr>
          <a:xfrm>
            <a:off x="1022152" y="9349274"/>
            <a:ext cx="1039341"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Chart &amp; Rx tasks</a:t>
            </a:r>
            <a:endParaRPr lang="en-US" sz="975" dirty="0"/>
          </a:p>
        </p:txBody>
      </p:sp>
      <p:sp>
        <p:nvSpPr>
          <p:cNvPr id="147" name="Text 145"/>
          <p:cNvSpPr/>
          <p:nvPr/>
        </p:nvSpPr>
        <p:spPr>
          <a:xfrm>
            <a:off x="89535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48" name="Text 146"/>
          <p:cNvSpPr/>
          <p:nvPr/>
        </p:nvSpPr>
        <p:spPr>
          <a:xfrm>
            <a:off x="1022152" y="9554508"/>
            <a:ext cx="112573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Lab auth requests</a:t>
            </a:r>
            <a:endParaRPr lang="en-US" sz="975" dirty="0"/>
          </a:p>
        </p:txBody>
      </p:sp>
      <p:sp>
        <p:nvSpPr>
          <p:cNvPr id="149" name="Shape 147"/>
          <p:cNvSpPr/>
          <p:nvPr/>
        </p:nvSpPr>
        <p:spPr>
          <a:xfrm>
            <a:off x="895350" y="9807367"/>
            <a:ext cx="820117" cy="176213"/>
          </a:xfrm>
          <a:prstGeom prst="roundRect">
            <a:avLst>
              <a:gd name="adj" fmla="val 32432"/>
            </a:avLst>
          </a:prstGeom>
          <a:solidFill>
            <a:srgbClr val="DCFCE7"/>
          </a:solidFill>
          <a:ln/>
        </p:spPr>
      </p:sp>
      <p:sp>
        <p:nvSpPr>
          <p:cNvPr id="150" name="Text 148"/>
          <p:cNvSpPr/>
          <p:nvPr/>
        </p:nvSpPr>
        <p:spPr>
          <a:xfrm>
            <a:off x="96202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51" name="Shape 149"/>
          <p:cNvSpPr/>
          <p:nvPr/>
        </p:nvSpPr>
        <p:spPr>
          <a:xfrm>
            <a:off x="3575000" y="8658265"/>
            <a:ext cx="2698775" cy="1449139"/>
          </a:xfrm>
          <a:prstGeom prst="roundRect">
            <a:avLst>
              <a:gd name="adj" fmla="val 6573"/>
            </a:avLst>
          </a:prstGeom>
          <a:ln w="9525">
            <a:solidFill>
              <a:srgbClr val="E5E0D8"/>
            </a:solidFill>
            <a:prstDash val="solid"/>
          </a:ln>
        </p:spPr>
      </p:sp>
      <p:sp>
        <p:nvSpPr>
          <p:cNvPr id="152" name="Shape 150"/>
          <p:cNvSpPr/>
          <p:nvPr/>
        </p:nvSpPr>
        <p:spPr>
          <a:xfrm>
            <a:off x="3708350" y="8782090"/>
            <a:ext cx="266700" cy="266700"/>
          </a:xfrm>
          <a:prstGeom prst="ellipse">
            <a:avLst/>
          </a:prstGeom>
          <a:solidFill>
            <a:srgbClr val="0F766E"/>
          </a:solidFill>
          <a:ln/>
        </p:spPr>
      </p:sp>
      <p:sp>
        <p:nvSpPr>
          <p:cNvPr id="153" name="Text 151"/>
          <p:cNvSpPr/>
          <p:nvPr/>
        </p:nvSpPr>
        <p:spPr>
          <a:xfrm>
            <a:off x="367025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GC</a:t>
            </a:r>
            <a:endParaRPr lang="en-US" sz="825" dirty="0"/>
          </a:p>
        </p:txBody>
      </p:sp>
      <p:sp>
        <p:nvSpPr>
          <p:cNvPr id="154" name="Text 152"/>
          <p:cNvSpPr/>
          <p:nvPr/>
        </p:nvSpPr>
        <p:spPr>
          <a:xfrm>
            <a:off x="4041725" y="8834478"/>
            <a:ext cx="1330888"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Genetic Counselor</a:t>
            </a:r>
            <a:endParaRPr lang="en-US" sz="1050" dirty="0"/>
          </a:p>
        </p:txBody>
      </p:sp>
      <p:sp>
        <p:nvSpPr>
          <p:cNvPr id="155" name="Text 153"/>
          <p:cNvSpPr/>
          <p:nvPr/>
        </p:nvSpPr>
        <p:spPr>
          <a:xfrm>
            <a:off x="370835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56" name="Text 154"/>
          <p:cNvSpPr/>
          <p:nvPr/>
        </p:nvSpPr>
        <p:spPr>
          <a:xfrm>
            <a:off x="3835152" y="9144040"/>
            <a:ext cx="106129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Pre-consult prep</a:t>
            </a:r>
            <a:endParaRPr lang="en-US" sz="975" dirty="0"/>
          </a:p>
        </p:txBody>
      </p:sp>
      <p:sp>
        <p:nvSpPr>
          <p:cNvPr id="157" name="Text 155"/>
          <p:cNvSpPr/>
          <p:nvPr/>
        </p:nvSpPr>
        <p:spPr>
          <a:xfrm>
            <a:off x="370835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58" name="Text 156"/>
          <p:cNvSpPr/>
          <p:nvPr/>
        </p:nvSpPr>
        <p:spPr>
          <a:xfrm>
            <a:off x="3835152" y="9349274"/>
            <a:ext cx="94059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GC chart tasks</a:t>
            </a:r>
            <a:endParaRPr lang="en-US" sz="975" dirty="0"/>
          </a:p>
        </p:txBody>
      </p:sp>
      <p:sp>
        <p:nvSpPr>
          <p:cNvPr id="159" name="Text 157"/>
          <p:cNvSpPr/>
          <p:nvPr/>
        </p:nvSpPr>
        <p:spPr>
          <a:xfrm>
            <a:off x="370835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60" name="Text 158"/>
          <p:cNvSpPr/>
          <p:nvPr/>
        </p:nvSpPr>
        <p:spPr>
          <a:xfrm>
            <a:off x="3835152" y="9554508"/>
            <a:ext cx="87905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Report orders</a:t>
            </a:r>
            <a:endParaRPr lang="en-US" sz="975" dirty="0"/>
          </a:p>
        </p:txBody>
      </p:sp>
      <p:sp>
        <p:nvSpPr>
          <p:cNvPr id="161" name="Shape 159"/>
          <p:cNvSpPr/>
          <p:nvPr/>
        </p:nvSpPr>
        <p:spPr>
          <a:xfrm>
            <a:off x="3708350" y="9807367"/>
            <a:ext cx="820117" cy="176213"/>
          </a:xfrm>
          <a:prstGeom prst="roundRect">
            <a:avLst>
              <a:gd name="adj" fmla="val 32432"/>
            </a:avLst>
          </a:prstGeom>
          <a:solidFill>
            <a:srgbClr val="DCFCE7"/>
          </a:solidFill>
          <a:ln/>
        </p:spPr>
      </p:sp>
      <p:sp>
        <p:nvSpPr>
          <p:cNvPr id="162" name="Text 160"/>
          <p:cNvSpPr/>
          <p:nvPr/>
        </p:nvSpPr>
        <p:spPr>
          <a:xfrm>
            <a:off x="377502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63" name="Shape 161"/>
          <p:cNvSpPr/>
          <p:nvPr/>
        </p:nvSpPr>
        <p:spPr>
          <a:xfrm>
            <a:off x="6388075" y="8658265"/>
            <a:ext cx="2698775" cy="1449139"/>
          </a:xfrm>
          <a:prstGeom prst="roundRect">
            <a:avLst>
              <a:gd name="adj" fmla="val 6573"/>
            </a:avLst>
          </a:prstGeom>
          <a:ln w="9525">
            <a:solidFill>
              <a:srgbClr val="E5E0D8"/>
            </a:solidFill>
            <a:prstDash val="solid"/>
          </a:ln>
        </p:spPr>
      </p:sp>
      <p:sp>
        <p:nvSpPr>
          <p:cNvPr id="164" name="Shape 162"/>
          <p:cNvSpPr/>
          <p:nvPr/>
        </p:nvSpPr>
        <p:spPr>
          <a:xfrm>
            <a:off x="6521425" y="8782090"/>
            <a:ext cx="266700" cy="266700"/>
          </a:xfrm>
          <a:prstGeom prst="ellipse">
            <a:avLst/>
          </a:prstGeom>
          <a:solidFill>
            <a:srgbClr val="B45309"/>
          </a:solidFill>
          <a:ln/>
        </p:spPr>
      </p:sp>
      <p:sp>
        <p:nvSpPr>
          <p:cNvPr id="165" name="Text 163"/>
          <p:cNvSpPr/>
          <p:nvPr/>
        </p:nvSpPr>
        <p:spPr>
          <a:xfrm>
            <a:off x="6483325"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QA</a:t>
            </a:r>
            <a:endParaRPr lang="en-US" sz="825" dirty="0"/>
          </a:p>
        </p:txBody>
      </p:sp>
      <p:sp>
        <p:nvSpPr>
          <p:cNvPr id="166" name="Text 164"/>
          <p:cNvSpPr/>
          <p:nvPr/>
        </p:nvSpPr>
        <p:spPr>
          <a:xfrm>
            <a:off x="6854800" y="8834478"/>
            <a:ext cx="907405"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QA Reviewer</a:t>
            </a:r>
            <a:endParaRPr lang="en-US" sz="1050" dirty="0"/>
          </a:p>
        </p:txBody>
      </p:sp>
      <p:sp>
        <p:nvSpPr>
          <p:cNvPr id="167" name="Text 165"/>
          <p:cNvSpPr/>
          <p:nvPr/>
        </p:nvSpPr>
        <p:spPr>
          <a:xfrm>
            <a:off x="6521425"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68" name="Text 166"/>
          <p:cNvSpPr/>
          <p:nvPr/>
        </p:nvSpPr>
        <p:spPr>
          <a:xfrm>
            <a:off x="6648227" y="9144040"/>
            <a:ext cx="782687"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Audit queue</a:t>
            </a:r>
            <a:endParaRPr lang="en-US" sz="975" dirty="0"/>
          </a:p>
        </p:txBody>
      </p:sp>
      <p:sp>
        <p:nvSpPr>
          <p:cNvPr id="169" name="Text 167"/>
          <p:cNvSpPr/>
          <p:nvPr/>
        </p:nvSpPr>
        <p:spPr>
          <a:xfrm>
            <a:off x="6521425"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70" name="Text 168"/>
          <p:cNvSpPr/>
          <p:nvPr/>
        </p:nvSpPr>
        <p:spPr>
          <a:xfrm>
            <a:off x="6648227" y="9349274"/>
            <a:ext cx="96232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Co-sign review</a:t>
            </a:r>
            <a:endParaRPr lang="en-US" sz="975" dirty="0"/>
          </a:p>
        </p:txBody>
      </p:sp>
      <p:sp>
        <p:nvSpPr>
          <p:cNvPr id="171" name="Text 169"/>
          <p:cNvSpPr/>
          <p:nvPr/>
        </p:nvSpPr>
        <p:spPr>
          <a:xfrm>
            <a:off x="6521425"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72" name="Text 170"/>
          <p:cNvSpPr/>
          <p:nvPr/>
        </p:nvSpPr>
        <p:spPr>
          <a:xfrm>
            <a:off x="6648227" y="9554508"/>
            <a:ext cx="109232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Compliance flags</a:t>
            </a:r>
            <a:endParaRPr lang="en-US" sz="975" dirty="0"/>
          </a:p>
        </p:txBody>
      </p:sp>
      <p:sp>
        <p:nvSpPr>
          <p:cNvPr id="173" name="Shape 171"/>
          <p:cNvSpPr/>
          <p:nvPr/>
        </p:nvSpPr>
        <p:spPr>
          <a:xfrm>
            <a:off x="6521425" y="9807367"/>
            <a:ext cx="820117" cy="176213"/>
          </a:xfrm>
          <a:prstGeom prst="roundRect">
            <a:avLst>
              <a:gd name="adj" fmla="val 32432"/>
            </a:avLst>
          </a:prstGeom>
          <a:solidFill>
            <a:srgbClr val="DCFCE7"/>
          </a:solidFill>
          <a:ln/>
        </p:spPr>
      </p:sp>
      <p:sp>
        <p:nvSpPr>
          <p:cNvPr id="174" name="Text 172"/>
          <p:cNvSpPr/>
          <p:nvPr/>
        </p:nvSpPr>
        <p:spPr>
          <a:xfrm>
            <a:off x="6588100"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75" name="Shape 173"/>
          <p:cNvSpPr/>
          <p:nvPr/>
        </p:nvSpPr>
        <p:spPr>
          <a:xfrm>
            <a:off x="9201150" y="8658265"/>
            <a:ext cx="2698700" cy="1449139"/>
          </a:xfrm>
          <a:prstGeom prst="roundRect">
            <a:avLst>
              <a:gd name="adj" fmla="val 6573"/>
            </a:avLst>
          </a:prstGeom>
          <a:ln w="9525">
            <a:solidFill>
              <a:srgbClr val="E5E0D8"/>
            </a:solidFill>
            <a:prstDash val="solid"/>
          </a:ln>
        </p:spPr>
      </p:sp>
      <p:sp>
        <p:nvSpPr>
          <p:cNvPr id="176" name="Shape 174"/>
          <p:cNvSpPr/>
          <p:nvPr/>
        </p:nvSpPr>
        <p:spPr>
          <a:xfrm>
            <a:off x="9334500" y="8782090"/>
            <a:ext cx="266700" cy="266700"/>
          </a:xfrm>
          <a:prstGeom prst="ellipse">
            <a:avLst/>
          </a:prstGeom>
          <a:solidFill>
            <a:srgbClr val="DC2626"/>
          </a:solidFill>
          <a:ln/>
        </p:spPr>
      </p:sp>
      <p:sp>
        <p:nvSpPr>
          <p:cNvPr id="177" name="Text 175"/>
          <p:cNvSpPr/>
          <p:nvPr/>
        </p:nvSpPr>
        <p:spPr>
          <a:xfrm>
            <a:off x="929640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RN</a:t>
            </a:r>
            <a:endParaRPr lang="en-US" sz="825" dirty="0"/>
          </a:p>
        </p:txBody>
      </p:sp>
      <p:sp>
        <p:nvSpPr>
          <p:cNvPr id="178" name="Text 176"/>
          <p:cNvSpPr/>
          <p:nvPr/>
        </p:nvSpPr>
        <p:spPr>
          <a:xfrm>
            <a:off x="9667875" y="8834478"/>
            <a:ext cx="614660"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Lead RN</a:t>
            </a:r>
            <a:endParaRPr lang="en-US" sz="1050" dirty="0"/>
          </a:p>
        </p:txBody>
      </p:sp>
      <p:sp>
        <p:nvSpPr>
          <p:cNvPr id="179" name="Text 177"/>
          <p:cNvSpPr/>
          <p:nvPr/>
        </p:nvSpPr>
        <p:spPr>
          <a:xfrm>
            <a:off x="933450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0" name="Text 178"/>
          <p:cNvSpPr/>
          <p:nvPr/>
        </p:nvSpPr>
        <p:spPr>
          <a:xfrm>
            <a:off x="9461302" y="9144040"/>
            <a:ext cx="913061"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Critical results</a:t>
            </a:r>
            <a:endParaRPr lang="en-US" sz="975" dirty="0"/>
          </a:p>
        </p:txBody>
      </p:sp>
      <p:sp>
        <p:nvSpPr>
          <p:cNvPr id="181" name="Text 179"/>
          <p:cNvSpPr/>
          <p:nvPr/>
        </p:nvSpPr>
        <p:spPr>
          <a:xfrm>
            <a:off x="933450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2" name="Text 180"/>
          <p:cNvSpPr/>
          <p:nvPr/>
        </p:nvSpPr>
        <p:spPr>
          <a:xfrm>
            <a:off x="9461302" y="9349274"/>
            <a:ext cx="74570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Titer queue</a:t>
            </a:r>
            <a:endParaRPr lang="en-US" sz="975" dirty="0"/>
          </a:p>
        </p:txBody>
      </p:sp>
      <p:sp>
        <p:nvSpPr>
          <p:cNvPr id="183" name="Text 181"/>
          <p:cNvSpPr/>
          <p:nvPr/>
        </p:nvSpPr>
        <p:spPr>
          <a:xfrm>
            <a:off x="933450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84" name="Text 182"/>
          <p:cNvSpPr/>
          <p:nvPr/>
        </p:nvSpPr>
        <p:spPr>
          <a:xfrm>
            <a:off x="9461302" y="9554508"/>
            <a:ext cx="1070074"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On-call schedule</a:t>
            </a:r>
            <a:endParaRPr lang="en-US" sz="975" dirty="0"/>
          </a:p>
        </p:txBody>
      </p:sp>
      <p:sp>
        <p:nvSpPr>
          <p:cNvPr id="185" name="Shape 183"/>
          <p:cNvSpPr/>
          <p:nvPr/>
        </p:nvSpPr>
        <p:spPr>
          <a:xfrm>
            <a:off x="9334500" y="9807367"/>
            <a:ext cx="820117" cy="176213"/>
          </a:xfrm>
          <a:prstGeom prst="roundRect">
            <a:avLst>
              <a:gd name="adj" fmla="val 32432"/>
            </a:avLst>
          </a:prstGeom>
          <a:solidFill>
            <a:srgbClr val="DCFCE7"/>
          </a:solidFill>
          <a:ln/>
        </p:spPr>
      </p:sp>
      <p:sp>
        <p:nvSpPr>
          <p:cNvPr id="186" name="Text 184"/>
          <p:cNvSpPr/>
          <p:nvPr/>
        </p:nvSpPr>
        <p:spPr>
          <a:xfrm>
            <a:off x="940117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87" name="Shape 185"/>
          <p:cNvSpPr/>
          <p:nvPr/>
        </p:nvSpPr>
        <p:spPr>
          <a:xfrm>
            <a:off x="12014150" y="8658265"/>
            <a:ext cx="2698775" cy="1449139"/>
          </a:xfrm>
          <a:prstGeom prst="roundRect">
            <a:avLst>
              <a:gd name="adj" fmla="val 6573"/>
            </a:avLst>
          </a:prstGeom>
          <a:ln w="9525">
            <a:solidFill>
              <a:srgbClr val="E5E0D8"/>
            </a:solidFill>
            <a:prstDash val="solid"/>
          </a:ln>
        </p:spPr>
      </p:sp>
      <p:sp>
        <p:nvSpPr>
          <p:cNvPr id="188" name="Shape 186"/>
          <p:cNvSpPr/>
          <p:nvPr/>
        </p:nvSpPr>
        <p:spPr>
          <a:xfrm>
            <a:off x="12147500" y="8782090"/>
            <a:ext cx="266700" cy="266700"/>
          </a:xfrm>
          <a:prstGeom prst="ellipse">
            <a:avLst/>
          </a:prstGeom>
          <a:solidFill>
            <a:srgbClr val="059669"/>
          </a:solidFill>
          <a:ln/>
        </p:spPr>
      </p:sp>
      <p:sp>
        <p:nvSpPr>
          <p:cNvPr id="189" name="Text 187"/>
          <p:cNvSpPr/>
          <p:nvPr/>
        </p:nvSpPr>
        <p:spPr>
          <a:xfrm>
            <a:off x="12109400"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PS</a:t>
            </a:r>
            <a:endParaRPr lang="en-US" sz="825" dirty="0"/>
          </a:p>
        </p:txBody>
      </p:sp>
      <p:sp>
        <p:nvSpPr>
          <p:cNvPr id="190" name="Text 188"/>
          <p:cNvSpPr/>
          <p:nvPr/>
        </p:nvSpPr>
        <p:spPr>
          <a:xfrm>
            <a:off x="12480875" y="8834478"/>
            <a:ext cx="735955"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PSS / PCC</a:t>
            </a:r>
            <a:endParaRPr lang="en-US" sz="1050" dirty="0"/>
          </a:p>
        </p:txBody>
      </p:sp>
      <p:sp>
        <p:nvSpPr>
          <p:cNvPr id="191" name="Text 189"/>
          <p:cNvSpPr/>
          <p:nvPr/>
        </p:nvSpPr>
        <p:spPr>
          <a:xfrm>
            <a:off x="12147500"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2" name="Text 190"/>
          <p:cNvSpPr/>
          <p:nvPr/>
        </p:nvSpPr>
        <p:spPr>
          <a:xfrm>
            <a:off x="12274302" y="9144040"/>
            <a:ext cx="129465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Outbound call queue</a:t>
            </a:r>
            <a:endParaRPr lang="en-US" sz="975" dirty="0"/>
          </a:p>
        </p:txBody>
      </p:sp>
      <p:sp>
        <p:nvSpPr>
          <p:cNvPr id="193" name="Text 191"/>
          <p:cNvSpPr/>
          <p:nvPr/>
        </p:nvSpPr>
        <p:spPr>
          <a:xfrm>
            <a:off x="12147500"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4" name="Text 192"/>
          <p:cNvSpPr/>
          <p:nvPr/>
        </p:nvSpPr>
        <p:spPr>
          <a:xfrm>
            <a:off x="12274302" y="9349274"/>
            <a:ext cx="1035472"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Patient outreach</a:t>
            </a:r>
            <a:endParaRPr lang="en-US" sz="975" dirty="0"/>
          </a:p>
        </p:txBody>
      </p:sp>
      <p:sp>
        <p:nvSpPr>
          <p:cNvPr id="195" name="Text 193"/>
          <p:cNvSpPr/>
          <p:nvPr/>
        </p:nvSpPr>
        <p:spPr>
          <a:xfrm>
            <a:off x="12147500"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196" name="Text 194"/>
          <p:cNvSpPr/>
          <p:nvPr/>
        </p:nvSpPr>
        <p:spPr>
          <a:xfrm>
            <a:off x="12274302" y="9554508"/>
            <a:ext cx="1167259"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Follow-up tracking</a:t>
            </a:r>
            <a:endParaRPr lang="en-US" sz="975" dirty="0"/>
          </a:p>
        </p:txBody>
      </p:sp>
      <p:sp>
        <p:nvSpPr>
          <p:cNvPr id="197" name="Shape 195"/>
          <p:cNvSpPr/>
          <p:nvPr/>
        </p:nvSpPr>
        <p:spPr>
          <a:xfrm>
            <a:off x="12147500" y="9807367"/>
            <a:ext cx="820117" cy="176213"/>
          </a:xfrm>
          <a:prstGeom prst="roundRect">
            <a:avLst>
              <a:gd name="adj" fmla="val 32432"/>
            </a:avLst>
          </a:prstGeom>
          <a:solidFill>
            <a:srgbClr val="DCFCE7"/>
          </a:solidFill>
          <a:ln/>
        </p:spPr>
      </p:sp>
      <p:sp>
        <p:nvSpPr>
          <p:cNvPr id="198" name="Text 196"/>
          <p:cNvSpPr/>
          <p:nvPr/>
        </p:nvSpPr>
        <p:spPr>
          <a:xfrm>
            <a:off x="12214175"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
        <p:nvSpPr>
          <p:cNvPr id="199" name="Shape 197"/>
          <p:cNvSpPr/>
          <p:nvPr/>
        </p:nvSpPr>
        <p:spPr>
          <a:xfrm>
            <a:off x="14827225" y="8658265"/>
            <a:ext cx="2698775" cy="1449139"/>
          </a:xfrm>
          <a:prstGeom prst="roundRect">
            <a:avLst>
              <a:gd name="adj" fmla="val 6573"/>
            </a:avLst>
          </a:prstGeom>
          <a:ln w="9525">
            <a:solidFill>
              <a:srgbClr val="E5E0D8"/>
            </a:solidFill>
            <a:prstDash val="solid"/>
          </a:ln>
        </p:spPr>
      </p:sp>
      <p:sp>
        <p:nvSpPr>
          <p:cNvPr id="200" name="Shape 198"/>
          <p:cNvSpPr/>
          <p:nvPr/>
        </p:nvSpPr>
        <p:spPr>
          <a:xfrm>
            <a:off x="14960575" y="8782090"/>
            <a:ext cx="266700" cy="266700"/>
          </a:xfrm>
          <a:prstGeom prst="ellipse">
            <a:avLst/>
          </a:prstGeom>
          <a:solidFill>
            <a:srgbClr val="7C3AED"/>
          </a:solidFill>
          <a:ln/>
        </p:spPr>
      </p:sp>
      <p:sp>
        <p:nvSpPr>
          <p:cNvPr id="201" name="Text 199"/>
          <p:cNvSpPr/>
          <p:nvPr/>
        </p:nvSpPr>
        <p:spPr>
          <a:xfrm>
            <a:off x="14922475" y="8782090"/>
            <a:ext cx="342900" cy="304800"/>
          </a:xfrm>
          <a:prstGeom prst="rect">
            <a:avLst/>
          </a:prstGeom>
          <a:noFill/>
          <a:ln/>
        </p:spPr>
        <p:txBody>
          <a:bodyPr wrap="square" lIns="25400" tIns="25400" rIns="25400" bIns="25400" rtlCol="0" anchor="ctr">
            <a:normAutofit/>
          </a:bodyPr>
          <a:lstStyle/>
          <a:p>
            <a:pPr marL="0" indent="0" algn="ctr">
              <a:buNone/>
            </a:pPr>
            <a:r>
              <a:rPr lang="en-US" sz="825" b="1" dirty="0">
                <a:solidFill>
                  <a:srgbClr val="FFFFFF"/>
                </a:solidFill>
                <a:latin typeface="Inter" pitchFamily="34" charset="0"/>
                <a:ea typeface="Inter" pitchFamily="34" charset="-122"/>
                <a:cs typeface="Inter" pitchFamily="34" charset="-120"/>
              </a:rPr>
              <a:t>MA</a:t>
            </a:r>
            <a:endParaRPr lang="en-US" sz="825" dirty="0"/>
          </a:p>
        </p:txBody>
      </p:sp>
      <p:sp>
        <p:nvSpPr>
          <p:cNvPr id="202" name="Text 200"/>
          <p:cNvSpPr/>
          <p:nvPr/>
        </p:nvSpPr>
        <p:spPr>
          <a:xfrm>
            <a:off x="15293950" y="8834478"/>
            <a:ext cx="1242120" cy="200025"/>
          </a:xfrm>
          <a:prstGeom prst="rect">
            <a:avLst/>
          </a:prstGeom>
          <a:noFill/>
          <a:ln/>
        </p:spPr>
        <p:txBody>
          <a:bodyPr wrap="square" lIns="25400" tIns="25400" rIns="25400" bIns="25400" rtlCol="0" anchor="t">
            <a:normAutofit lnSpcReduction="10000"/>
          </a:bodyPr>
          <a:lstStyle/>
          <a:p>
            <a:pPr marL="0" indent="0" algn="l">
              <a:buNone/>
            </a:pPr>
            <a:r>
              <a:rPr lang="en-US" sz="1050" b="1" dirty="0">
                <a:solidFill>
                  <a:srgbClr val="111827"/>
                </a:solidFill>
                <a:latin typeface="Inter" pitchFamily="34" charset="0"/>
                <a:ea typeface="Inter" pitchFamily="34" charset="-122"/>
                <a:cs typeface="Inter" pitchFamily="34" charset="-120"/>
              </a:rPr>
              <a:t>Medical Assistant</a:t>
            </a:r>
            <a:endParaRPr lang="en-US" sz="1050" dirty="0"/>
          </a:p>
        </p:txBody>
      </p:sp>
      <p:sp>
        <p:nvSpPr>
          <p:cNvPr id="203" name="Text 201"/>
          <p:cNvSpPr/>
          <p:nvPr/>
        </p:nvSpPr>
        <p:spPr>
          <a:xfrm>
            <a:off x="14960575" y="9134515"/>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4" name="Text 202"/>
          <p:cNvSpPr/>
          <p:nvPr/>
        </p:nvSpPr>
        <p:spPr>
          <a:xfrm>
            <a:off x="15087377" y="9144040"/>
            <a:ext cx="751433"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Task queue</a:t>
            </a:r>
            <a:endParaRPr lang="en-US" sz="975" dirty="0"/>
          </a:p>
        </p:txBody>
      </p:sp>
      <p:sp>
        <p:nvSpPr>
          <p:cNvPr id="205" name="Text 203"/>
          <p:cNvSpPr/>
          <p:nvPr/>
        </p:nvSpPr>
        <p:spPr>
          <a:xfrm>
            <a:off x="14960575" y="9339749"/>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6" name="Text 204"/>
          <p:cNvSpPr/>
          <p:nvPr/>
        </p:nvSpPr>
        <p:spPr>
          <a:xfrm>
            <a:off x="15087377" y="9349274"/>
            <a:ext cx="981596"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Referral tracker</a:t>
            </a:r>
            <a:endParaRPr lang="en-US" sz="975" dirty="0"/>
          </a:p>
        </p:txBody>
      </p:sp>
      <p:sp>
        <p:nvSpPr>
          <p:cNvPr id="207" name="Text 205"/>
          <p:cNvSpPr/>
          <p:nvPr/>
        </p:nvSpPr>
        <p:spPr>
          <a:xfrm>
            <a:off x="14960575" y="9544983"/>
            <a:ext cx="145852" cy="205234"/>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975" dirty="0">
                <a:solidFill>
                  <a:srgbClr val="6D28D9"/>
                </a:solidFill>
                <a:latin typeface="Inter" pitchFamily="34" charset="0"/>
                <a:ea typeface="Inter" pitchFamily="34" charset="-122"/>
                <a:cs typeface="Inter" pitchFamily="34" charset="-120"/>
              </a:rPr>
              <a:t>•</a:t>
            </a:r>
            <a:endParaRPr lang="en-US" sz="975" dirty="0"/>
          </a:p>
        </p:txBody>
      </p:sp>
      <p:sp>
        <p:nvSpPr>
          <p:cNvPr id="208" name="Text 206"/>
          <p:cNvSpPr/>
          <p:nvPr/>
        </p:nvSpPr>
        <p:spPr>
          <a:xfrm>
            <a:off x="15087377" y="9554508"/>
            <a:ext cx="980777" cy="185738"/>
          </a:xfrm>
          <a:prstGeom prst="rect">
            <a:avLst/>
          </a:prstGeom>
          <a:noFill/>
          <a:ln/>
        </p:spPr>
        <p:txBody>
          <a:bodyPr wrap="square" lIns="0" tIns="0" rIns="0" bIns="0" rtlCol="0" anchor="t">
            <a:normAutofit/>
          </a:bodyPr>
          <a:lstStyle/>
          <a:p>
            <a:pPr marL="0" indent="0" algn="l">
              <a:lnSpc>
                <a:spcPct val="135000"/>
              </a:lnSpc>
              <a:buNone/>
            </a:pPr>
            <a:r>
              <a:rPr lang="en-US" sz="975" dirty="0">
                <a:solidFill>
                  <a:srgbClr val="6B7280"/>
                </a:solidFill>
                <a:latin typeface="Inter" pitchFamily="34" charset="0"/>
                <a:ea typeface="Inter" pitchFamily="34" charset="-122"/>
                <a:cs typeface="Inter" pitchFamily="34" charset="-120"/>
              </a:rPr>
              <a:t>PCP follow-ups</a:t>
            </a:r>
            <a:endParaRPr lang="en-US" sz="975" dirty="0"/>
          </a:p>
        </p:txBody>
      </p:sp>
      <p:sp>
        <p:nvSpPr>
          <p:cNvPr id="209" name="Shape 207"/>
          <p:cNvSpPr/>
          <p:nvPr/>
        </p:nvSpPr>
        <p:spPr>
          <a:xfrm>
            <a:off x="14960575" y="9807367"/>
            <a:ext cx="820117" cy="176213"/>
          </a:xfrm>
          <a:prstGeom prst="roundRect">
            <a:avLst>
              <a:gd name="adj" fmla="val 32432"/>
            </a:avLst>
          </a:prstGeom>
          <a:solidFill>
            <a:srgbClr val="DCFCE7"/>
          </a:solidFill>
          <a:ln/>
        </p:spPr>
      </p:sp>
      <p:sp>
        <p:nvSpPr>
          <p:cNvPr id="210" name="Text 208"/>
          <p:cNvSpPr/>
          <p:nvPr/>
        </p:nvSpPr>
        <p:spPr>
          <a:xfrm>
            <a:off x="15027250" y="9826417"/>
            <a:ext cx="768779" cy="176213"/>
          </a:xfrm>
          <a:prstGeom prst="rect">
            <a:avLst/>
          </a:prstGeom>
          <a:noFill/>
          <a:ln/>
        </p:spPr>
        <p:txBody>
          <a:bodyPr wrap="square" lIns="25400" tIns="25400" rIns="25400" bIns="25400" rtlCol="0" anchor="t">
            <a:normAutofit lnSpcReduction="10000"/>
          </a:bodyPr>
          <a:lstStyle/>
          <a:p>
            <a:pPr marL="0" indent="0" algn="l">
              <a:buNone/>
            </a:pPr>
            <a:r>
              <a:rPr lang="en-US" sz="900" b="1" dirty="0">
                <a:solidFill>
                  <a:srgbClr val="15803D"/>
                </a:solidFill>
                <a:latin typeface="Inter" pitchFamily="34" charset="0"/>
                <a:ea typeface="Inter" pitchFamily="34" charset="-122"/>
                <a:cs typeface="Inter" pitchFamily="34" charset="-120"/>
              </a:rPr>
              <a:t>Auto-routed</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6012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20040" y="91440"/>
            <a:ext cx="17647920" cy="475488"/>
          </a:xfrm>
          <a:prstGeom prst="rect">
            <a:avLst/>
          </a:prstGeom>
          <a:noFill/>
        </p:spPr>
        <p:txBody>
          <a:bodyPr wrap="square">
            <a:spAutoFit/>
          </a:bodyPr>
          <a:lstStyle/>
          <a:p>
            <a:pPr algn="l">
              <a:spcBef>
                <a:spcPts val="0"/>
              </a:spcBef>
              <a:spcAft>
                <a:spcPts val="0"/>
              </a:spcAft>
            </a:pPr>
            <a:r>
              <a:rPr sz="2100" b="1">
                <a:solidFill>
                  <a:srgbClr val="FFFFFF"/>
                </a:solidFill>
                <a:latin typeface="Calibri"/>
              </a:rPr>
              <a:t>Operational Impact: From Manual Coordination to Automated Intelligence</a:t>
            </a:r>
          </a:p>
        </p:txBody>
      </p:sp>
      <p:sp>
        <p:nvSpPr>
          <p:cNvPr id="4" name="TextBox 3"/>
          <p:cNvSpPr txBox="1"/>
          <p:nvPr/>
        </p:nvSpPr>
        <p:spPr>
          <a:xfrm>
            <a:off x="320040" y="576072"/>
            <a:ext cx="17647920" cy="338328"/>
          </a:xfrm>
          <a:prstGeom prst="rect">
            <a:avLst/>
          </a:prstGeom>
          <a:noFill/>
        </p:spPr>
        <p:txBody>
          <a:bodyPr wrap="square">
            <a:spAutoFit/>
          </a:bodyPr>
          <a:lstStyle/>
          <a:p>
            <a:pPr algn="l">
              <a:spcBef>
                <a:spcPts val="0"/>
              </a:spcBef>
              <a:spcAft>
                <a:spcPts val="0"/>
              </a:spcAft>
            </a:pPr>
            <a:r>
              <a:rPr sz="1050" b="0">
                <a:solidFill>
                  <a:srgbClr val="C4B5FD"/>
                </a:solidFill>
                <a:latin typeface="Calibri"/>
              </a:rPr>
              <a:t>How the new platform replaces 5 Slack-based manual workflows the care team manages today — replacing monitoring, manual follow-up, and ad-hoc coordination with automated queue intelligence</a:t>
            </a:r>
          </a:p>
        </p:txBody>
      </p:sp>
      <p:sp>
        <p:nvSpPr>
          <p:cNvPr id="5" name="Rectangle 4"/>
          <p:cNvSpPr/>
          <p:nvPr/>
        </p:nvSpPr>
        <p:spPr>
          <a:xfrm>
            <a:off x="256032" y="1051560"/>
            <a:ext cx="8430768" cy="502920"/>
          </a:xfrm>
          <a:prstGeom prst="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47472" y="1143000"/>
            <a:ext cx="8247888" cy="365760"/>
          </a:xfrm>
          <a:prstGeom prst="rect">
            <a:avLst/>
          </a:prstGeom>
          <a:noFill/>
        </p:spPr>
        <p:txBody>
          <a:bodyPr wrap="square">
            <a:spAutoFit/>
          </a:bodyPr>
          <a:lstStyle/>
          <a:p>
            <a:pPr algn="ctr">
              <a:spcBef>
                <a:spcPts val="0"/>
              </a:spcBef>
              <a:spcAft>
                <a:spcPts val="0"/>
              </a:spcAft>
            </a:pPr>
            <a:r>
              <a:rPr sz="1200" b="1">
                <a:solidFill>
                  <a:srgbClr val="92400E"/>
                </a:solidFill>
                <a:latin typeface="Calibri"/>
              </a:rPr>
              <a:t>BEFORE  —  Current Platform (Manual Coordination via Slack)</a:t>
            </a:r>
          </a:p>
        </p:txBody>
      </p:sp>
      <p:sp>
        <p:nvSpPr>
          <p:cNvPr id="7" name="Rectangle 6"/>
          <p:cNvSpPr/>
          <p:nvPr/>
        </p:nvSpPr>
        <p:spPr>
          <a:xfrm>
            <a:off x="9400032" y="1051560"/>
            <a:ext cx="8631936" cy="502920"/>
          </a:xfrm>
          <a:prstGeom prst="rect">
            <a:avLst/>
          </a:prstGeom>
          <a:solidFill>
            <a:srgbClr val="F5F3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91472" y="1143000"/>
            <a:ext cx="8449056" cy="365760"/>
          </a:xfrm>
          <a:prstGeom prst="rect">
            <a:avLst/>
          </a:prstGeom>
          <a:noFill/>
        </p:spPr>
        <p:txBody>
          <a:bodyPr wrap="square">
            <a:spAutoFit/>
          </a:bodyPr>
          <a:lstStyle/>
          <a:p>
            <a:pPr algn="ctr">
              <a:spcBef>
                <a:spcPts val="0"/>
              </a:spcBef>
              <a:spcAft>
                <a:spcPts val="0"/>
              </a:spcAft>
            </a:pPr>
            <a:r>
              <a:rPr sz="1200" b="1">
                <a:solidFill>
                  <a:srgbClr val="5B21B6"/>
                </a:solidFill>
                <a:latin typeface="Calibri"/>
              </a:rPr>
              <a:t>AFTER  —  New Platform (Automated Care Team Queue)</a:t>
            </a:r>
          </a:p>
        </p:txBody>
      </p:sp>
      <p:sp>
        <p:nvSpPr>
          <p:cNvPr id="9" name="TextBox 8"/>
          <p:cNvSpPr txBox="1"/>
          <p:nvPr/>
        </p:nvSpPr>
        <p:spPr>
          <a:xfrm>
            <a:off x="8686800" y="5335524"/>
            <a:ext cx="694944" cy="548640"/>
          </a:xfrm>
          <a:prstGeom prst="rect">
            <a:avLst/>
          </a:prstGeom>
          <a:noFill/>
        </p:spPr>
        <p:txBody>
          <a:bodyPr wrap="square">
            <a:spAutoFit/>
          </a:bodyPr>
          <a:lstStyle/>
          <a:p>
            <a:pPr algn="ctr">
              <a:spcBef>
                <a:spcPts val="0"/>
              </a:spcBef>
              <a:spcAft>
                <a:spcPts val="0"/>
              </a:spcAft>
            </a:pPr>
            <a:r>
              <a:rPr sz="2000" b="1">
                <a:solidFill>
                  <a:srgbClr val="7C3AED"/>
                </a:solidFill>
                <a:latin typeface="Calibri"/>
              </a:rPr>
              <a:t>=&gt;</a:t>
            </a:r>
          </a:p>
        </p:txBody>
      </p:sp>
      <p:sp>
        <p:nvSpPr>
          <p:cNvPr id="10" name="Rectangle 9"/>
          <p:cNvSpPr/>
          <p:nvPr/>
        </p:nvSpPr>
        <p:spPr>
          <a:xfrm>
            <a:off x="256032" y="166420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0624" y="175564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Patient Unreachable After Consult</a:t>
            </a:r>
          </a:p>
        </p:txBody>
      </p:sp>
      <p:sp>
        <p:nvSpPr>
          <p:cNvPr id="12" name="Rectangle 11"/>
          <p:cNvSpPr/>
          <p:nvPr/>
        </p:nvSpPr>
        <p:spPr>
          <a:xfrm>
            <a:off x="420624" y="2048256"/>
            <a:ext cx="1607515"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0624" y="2048256"/>
            <a:ext cx="1607515"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#new_referral_notes</a:t>
            </a:r>
          </a:p>
        </p:txBody>
      </p:sp>
      <p:sp>
        <p:nvSpPr>
          <p:cNvPr id="14" name="TextBox 13"/>
          <p:cNvSpPr txBox="1"/>
          <p:nvPr/>
        </p:nvSpPr>
        <p:spPr>
          <a:xfrm>
            <a:off x="420624" y="228600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Provider notes "unable to reach" in the chart. This fires a Slack post to #new_referral_notes. The care team monitors the channel every ~30 minutes, then a team member manually calls the patient back. There is no SLA clock, no system record of the follow-up attempt, and no audit trail.</a:t>
            </a:r>
          </a:p>
        </p:txBody>
      </p:sp>
      <p:sp>
        <p:nvSpPr>
          <p:cNvPr id="15" name="Rectangle 14"/>
          <p:cNvSpPr/>
          <p:nvPr/>
        </p:nvSpPr>
        <p:spPr>
          <a:xfrm>
            <a:off x="9400032" y="166420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550639" y="175564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6550639" y="175564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18" name="TextBox 17"/>
          <p:cNvSpPr txBox="1"/>
          <p:nvPr/>
        </p:nvSpPr>
        <p:spPr>
          <a:xfrm>
            <a:off x="9564624" y="175564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Patient Unreachable After Consult</a:t>
            </a:r>
          </a:p>
        </p:txBody>
      </p:sp>
      <p:sp>
        <p:nvSpPr>
          <p:cNvPr id="19" name="TextBox 18"/>
          <p:cNvSpPr txBox="1"/>
          <p:nvPr/>
        </p:nvSpPr>
        <p:spPr>
          <a:xfrm>
            <a:off x="9564624" y="206654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pre-call SMS and portal push notification fires automatically the moment a provider accepts a patient from the queue. If the provider is still unable to reach the patient, a CT Queue task auto-creates with notification delivery status, full contact history, and a direct consult link. The SLA clock starts immediately.</a:t>
            </a:r>
          </a:p>
        </p:txBody>
      </p:sp>
      <p:sp>
        <p:nvSpPr>
          <p:cNvPr id="20" name="Rectangle 19"/>
          <p:cNvSpPr/>
          <p:nvPr/>
        </p:nvSpPr>
        <p:spPr>
          <a:xfrm>
            <a:off x="256032" y="366445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0624" y="375589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Rx Consult Closed Without Prescription</a:t>
            </a:r>
          </a:p>
        </p:txBody>
      </p:sp>
      <p:sp>
        <p:nvSpPr>
          <p:cNvPr id="22" name="Rectangle 21"/>
          <p:cNvSpPr/>
          <p:nvPr/>
        </p:nvSpPr>
        <p:spPr>
          <a:xfrm>
            <a:off x="420624" y="4048506"/>
            <a:ext cx="1757476"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20624" y="4048506"/>
            <a:ext cx="1757476"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#physician_monitoring</a:t>
            </a:r>
          </a:p>
        </p:txBody>
      </p:sp>
      <p:sp>
        <p:nvSpPr>
          <p:cNvPr id="24" name="TextBox 23"/>
          <p:cNvSpPr txBox="1"/>
          <p:nvPr/>
        </p:nvSpPr>
        <p:spPr>
          <a:xfrm>
            <a:off x="420624" y="428625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monitoring bot posts an alert to #physician_monitoring when an Rx-type consult closes with no prescription record attached. A care team member reads the alert and manually contacts the physician to determine the reason. There is no structured resolution workflow and no SLA tracking on follow-up.</a:t>
            </a:r>
          </a:p>
        </p:txBody>
      </p:sp>
      <p:sp>
        <p:nvSpPr>
          <p:cNvPr id="25" name="Rectangle 24"/>
          <p:cNvSpPr/>
          <p:nvPr/>
        </p:nvSpPr>
        <p:spPr>
          <a:xfrm>
            <a:off x="9400032" y="366445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6550639" y="375589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6550639" y="375589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28" name="TextBox 27"/>
          <p:cNvSpPr txBox="1"/>
          <p:nvPr/>
        </p:nvSpPr>
        <p:spPr>
          <a:xfrm>
            <a:off x="9564624" y="375589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Rx Consult Closed Without Prescription</a:t>
            </a:r>
          </a:p>
        </p:txBody>
      </p:sp>
      <p:sp>
        <p:nvSpPr>
          <p:cNvPr id="29" name="TextBox 28"/>
          <p:cNvSpPr txBox="1"/>
          <p:nvPr/>
        </p:nvSpPr>
        <p:spPr>
          <a:xfrm>
            <a:off x="9564624" y="406679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The platform detects when an Rx-type consult completes with no prescription record within the session. A CT Queue task — "Untreated Rx Consult" — auto-creates within 2 minutes. The task includes the consult ID, physician name, care product, and the session note so the care team can act immediately.</a:t>
            </a:r>
          </a:p>
        </p:txBody>
      </p:sp>
      <p:sp>
        <p:nvSpPr>
          <p:cNvPr id="30" name="Rectangle 29"/>
          <p:cNvSpPr/>
          <p:nvPr/>
        </p:nvSpPr>
        <p:spPr>
          <a:xfrm>
            <a:off x="256032" y="566470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20624" y="575614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Provider Reassignment Request</a:t>
            </a:r>
          </a:p>
        </p:txBody>
      </p:sp>
      <p:sp>
        <p:nvSpPr>
          <p:cNvPr id="32" name="Rectangle 31"/>
          <p:cNvSpPr/>
          <p:nvPr/>
        </p:nvSpPr>
        <p:spPr>
          <a:xfrm>
            <a:off x="420624" y="6048756"/>
            <a:ext cx="1457553"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0624" y="6048756"/>
            <a:ext cx="1457553"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#physician_issues</a:t>
            </a:r>
          </a:p>
        </p:txBody>
      </p:sp>
      <p:sp>
        <p:nvSpPr>
          <p:cNvPr id="34" name="TextBox 33"/>
          <p:cNvSpPr txBox="1"/>
          <p:nvPr/>
        </p:nvSpPr>
        <p:spPr>
          <a:xfrm>
            <a:off x="420624" y="628650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A care team member types a freeform Slack message in #physician_issues requesting that a patient be moved off a provider. This triggers manual back-and-forth to confirm. The reassignment is performed outside the system, leaving no system record, no audit trail, and no SLA accountability.</a:t>
            </a:r>
          </a:p>
        </p:txBody>
      </p:sp>
      <p:sp>
        <p:nvSpPr>
          <p:cNvPr id="35" name="Rectangle 34"/>
          <p:cNvSpPr/>
          <p:nvPr/>
        </p:nvSpPr>
        <p:spPr>
          <a:xfrm>
            <a:off x="9400032" y="5664708"/>
            <a:ext cx="8631936" cy="1890522"/>
          </a:xfrm>
          <a:prstGeom prst="rect">
            <a:avLst/>
          </a:prstGeom>
          <a:solidFill>
            <a:srgbClr val="F5F3FF"/>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6550639" y="5756148"/>
            <a:ext cx="1371600" cy="219456"/>
          </a:xfrm>
          <a:prstGeom prst="rect">
            <a:avLst/>
          </a:prstGeom>
          <a:solidFill>
            <a:srgbClr val="D1FAE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550639" y="5756148"/>
            <a:ext cx="1371600" cy="219456"/>
          </a:xfrm>
          <a:prstGeom prst="rect">
            <a:avLst/>
          </a:prstGeom>
          <a:noFill/>
        </p:spPr>
        <p:txBody>
          <a:bodyPr wrap="square">
            <a:spAutoFit/>
          </a:bodyPr>
          <a:lstStyle/>
          <a:p>
            <a:pPr algn="ctr">
              <a:spcBef>
                <a:spcPts val="0"/>
              </a:spcBef>
              <a:spcAft>
                <a:spcPts val="0"/>
              </a:spcAft>
            </a:pPr>
            <a:r>
              <a:rPr sz="850" b="1">
                <a:solidFill>
                  <a:srgbClr val="059669"/>
                </a:solidFill>
                <a:latin typeface="Calibri"/>
              </a:rPr>
              <a:t>Automated</a:t>
            </a:r>
          </a:p>
        </p:txBody>
      </p:sp>
      <p:sp>
        <p:nvSpPr>
          <p:cNvPr id="38" name="TextBox 37"/>
          <p:cNvSpPr txBox="1"/>
          <p:nvPr/>
        </p:nvSpPr>
        <p:spPr>
          <a:xfrm>
            <a:off x="9564624" y="5756148"/>
            <a:ext cx="6775704" cy="274320"/>
          </a:xfrm>
          <a:prstGeom prst="rect">
            <a:avLst/>
          </a:prstGeom>
          <a:noFill/>
        </p:spPr>
        <p:txBody>
          <a:bodyPr wrap="square">
            <a:spAutoFit/>
          </a:bodyPr>
          <a:lstStyle/>
          <a:p>
            <a:pPr algn="l">
              <a:spcBef>
                <a:spcPts val="0"/>
              </a:spcBef>
              <a:spcAft>
                <a:spcPts val="0"/>
              </a:spcAft>
            </a:pPr>
            <a:r>
              <a:rPr sz="1100" b="1">
                <a:solidFill>
                  <a:srgbClr val="5B21B6"/>
                </a:solidFill>
                <a:latin typeface="Calibri"/>
              </a:rPr>
              <a:t>Provider Reassignment Request</a:t>
            </a:r>
          </a:p>
        </p:txBody>
      </p:sp>
      <p:sp>
        <p:nvSpPr>
          <p:cNvPr id="39" name="TextBox 38"/>
          <p:cNvSpPr txBox="1"/>
          <p:nvPr/>
        </p:nvSpPr>
        <p:spPr>
          <a:xfrm>
            <a:off x="9564624" y="6067044"/>
            <a:ext cx="8302752" cy="1415034"/>
          </a:xfrm>
          <a:prstGeom prst="rect">
            <a:avLst/>
          </a:prstGeom>
          <a:noFill/>
        </p:spPr>
        <p:txBody>
          <a:bodyPr wrap="square">
            <a:spAutoFit/>
          </a:bodyPr>
          <a:lstStyle/>
          <a:p>
            <a:pPr algn="l">
              <a:spcBef>
                <a:spcPts val="0"/>
              </a:spcBef>
              <a:spcAft>
                <a:spcPts val="0"/>
              </a:spcAft>
            </a:pPr>
            <a:r>
              <a:rPr sz="1000" b="0">
                <a:solidFill>
                  <a:srgbClr val="374151"/>
                </a:solidFill>
                <a:latin typeface="Calibri"/>
              </a:rPr>
              <a:t>Reassignment triggers are detected automatically by the SLA engine or initiated by the provider in the chart. The platform creates a CT Queue task "Reassignment Needed" with one-click Reassign action. Every reassignment is logged with timestamp, reason, and the new provider assignment — full audit trail in the system.</a:t>
            </a:r>
          </a:p>
        </p:txBody>
      </p:sp>
      <p:sp>
        <p:nvSpPr>
          <p:cNvPr id="40" name="Rectangle 39"/>
          <p:cNvSpPr/>
          <p:nvPr/>
        </p:nvSpPr>
        <p:spPr>
          <a:xfrm>
            <a:off x="256032" y="7664958"/>
            <a:ext cx="8430768" cy="1890522"/>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20624" y="7756398"/>
            <a:ext cx="8101584" cy="274320"/>
          </a:xfrm>
          <a:prstGeom prst="rect">
            <a:avLst/>
          </a:prstGeom>
          <a:noFill/>
        </p:spPr>
        <p:txBody>
          <a:bodyPr wrap="square">
            <a:spAutoFit/>
          </a:bodyPr>
          <a:lstStyle/>
          <a:p>
            <a:pPr algn="l">
              <a:spcBef>
                <a:spcPts val="0"/>
              </a:spcBef>
              <a:spcAft>
                <a:spcPts val="0"/>
              </a:spcAft>
            </a:pPr>
            <a:r>
              <a:rPr sz="1100" b="1">
                <a:solidFill>
                  <a:srgbClr val="92400E"/>
                </a:solidFill>
                <a:latin typeface="Calibri"/>
              </a:rPr>
              <a:t>Broken Portal Link &amp; Prescription Not Found</a:t>
            </a:r>
          </a:p>
        </p:txBody>
      </p:sp>
      <p:sp>
        <p:nvSpPr>
          <p:cNvPr id="42" name="Rectangle 41"/>
          <p:cNvSpPr/>
          <p:nvPr/>
        </p:nvSpPr>
        <p:spPr>
          <a:xfrm>
            <a:off x="420624" y="8049006"/>
            <a:ext cx="3931920" cy="201168"/>
          </a:xfrm>
          <a:prstGeom prst="rect">
            <a:avLst/>
          </a:prstGeom>
          <a:solidFill>
            <a:srgbClr val="FFFBEB"/>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20624" y="8049006"/>
            <a:ext cx="3931920" cy="201168"/>
          </a:xfrm>
          <a:prstGeom prst="rect">
            <a:avLst/>
          </a:prstGeom>
          <a:noFill/>
        </p:spPr>
        <p:txBody>
          <a:bodyPr wrap="square">
            <a:spAutoFit/>
          </a:bodyPr>
          <a:lstStyle/>
          <a:p>
            <a:pPr algn="ctr">
              <a:spcBef>
                <a:spcPts val="0"/>
              </a:spcBef>
              <a:spcAft>
                <a:spcPts val="0"/>
              </a:spcAft>
            </a:pPr>
            <a:r>
              <a:rPr sz="850" b="1">
                <a:solidFill>
                  <a:srgbClr val="92400E"/>
                </a:solidFill>
                <a:latin typeface="Courier New"/>
              </a:rPr>
              <a:t>#th-user-support-tickets  /  #physician_monitoring</a:t>
            </a:r>
          </a:p>
        </p:txBody>
      </p:sp>
      <p:sp>
        <p:nvSpPr>
          <p:cNvPr id="44" name="TextBox 43"/>
          <p:cNvSpPr txBox="1"/>
          <p:nvPr/>
        </p:nvSpPr>
        <p:spPr>
          <a:xfrm>
            <a:off x="420624" y="8286750"/>
            <a:ext cx="8101584" cy="1204722"/>
          </a:xfrm>
          <a:prstGeom prst="rect">
            <a:avLst/>
          </a:prstGeom>
          <a:noFill/>
        </p:spPr>
        <p:txBody>
          <a:bodyPr wrap="square">
            <a:spAutoFit/>
          </a:bodyPr>
          <a:lstStyle/>
          <a:p>
            <a:pPr algn="l">
              <a:spcBef>
                <a:spcPts val="0"/>
              </a:spcBef>
              <a:spcAft>
                <a:spcPts val="0"/>
              </a:spcAft>
            </a:pPr>
            <a:r>
              <a:rPr sz="1000" b="0">
                <a:solidFill>
                  <a:srgbClr val="374151"/>
                </a:solidFill>
                <a:latin typeface="Calibri"/>
              </a:rPr>
              <a:t>Patients receive wrong or expired portal links via outbound messaging, then contact support — routing issues to #th-user-support-tickets for manual resolution. Separately, #physician_monitoring alerts the team hourly when a committed prescription is missing from the system — requiring manual investigation every time.</a:t>
            </a:r>
          </a:p>
        </p:txBody>
      </p:sp>
      <p:sp>
        <p:nvSpPr>
          <p:cNvPr id="45" name="Rectangle 44"/>
          <p:cNvSpPr/>
          <p:nvPr/>
        </p:nvSpPr>
        <p:spPr>
          <a:xfrm>
            <a:off x="9400032" y="7664958"/>
            <a:ext cx="8631936" cy="1890522"/>
          </a:xfrm>
          <a:prstGeom prst="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6093439" y="7756398"/>
            <a:ext cx="1828800" cy="219456"/>
          </a:xfrm>
          <a:prstGeom prst="rect">
            <a:avLst/>
          </a:prstGeom>
          <a:solidFill>
            <a:srgbClr val="F3F4F6"/>
          </a:solidFill>
          <a:ln w="9525">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6093439" y="7756398"/>
            <a:ext cx="1828800" cy="219456"/>
          </a:xfrm>
          <a:prstGeom prst="rect">
            <a:avLst/>
          </a:prstGeom>
          <a:noFill/>
        </p:spPr>
        <p:txBody>
          <a:bodyPr wrap="square">
            <a:spAutoFit/>
          </a:bodyPr>
          <a:lstStyle/>
          <a:p>
            <a:pPr algn="ctr">
              <a:spcBef>
                <a:spcPts val="0"/>
              </a:spcBef>
              <a:spcAft>
                <a:spcPts val="0"/>
              </a:spcAft>
            </a:pPr>
            <a:r>
              <a:rPr sz="850" b="1">
                <a:solidFill>
                  <a:srgbClr val="6B7280"/>
                </a:solidFill>
                <a:latin typeface="Calibri"/>
              </a:rPr>
              <a:t>✓ Eliminated by Design</a:t>
            </a:r>
          </a:p>
        </p:txBody>
      </p:sp>
      <p:sp>
        <p:nvSpPr>
          <p:cNvPr id="48" name="TextBox 47"/>
          <p:cNvSpPr txBox="1"/>
          <p:nvPr/>
        </p:nvSpPr>
        <p:spPr>
          <a:xfrm>
            <a:off x="9564624" y="7756398"/>
            <a:ext cx="6318504" cy="274320"/>
          </a:xfrm>
          <a:prstGeom prst="rect">
            <a:avLst/>
          </a:prstGeom>
          <a:noFill/>
        </p:spPr>
        <p:txBody>
          <a:bodyPr wrap="square">
            <a:spAutoFit/>
          </a:bodyPr>
          <a:lstStyle/>
          <a:p>
            <a:pPr algn="l">
              <a:spcBef>
                <a:spcPts val="0"/>
              </a:spcBef>
              <a:spcAft>
                <a:spcPts val="0"/>
              </a:spcAft>
            </a:pPr>
            <a:r>
              <a:rPr sz="1100" b="1">
                <a:solidFill>
                  <a:srgbClr val="6B7280"/>
                </a:solidFill>
                <a:latin typeface="Calibri"/>
              </a:rPr>
              <a:t>Broken Portal Link &amp; Prescription Not Found</a:t>
            </a:r>
          </a:p>
        </p:txBody>
      </p:sp>
      <p:sp>
        <p:nvSpPr>
          <p:cNvPr id="49" name="TextBox 48"/>
          <p:cNvSpPr txBox="1"/>
          <p:nvPr/>
        </p:nvSpPr>
        <p:spPr>
          <a:xfrm>
            <a:off x="9564624" y="8067294"/>
            <a:ext cx="8302752" cy="1415034"/>
          </a:xfrm>
          <a:prstGeom prst="rect">
            <a:avLst/>
          </a:prstGeom>
          <a:noFill/>
        </p:spPr>
        <p:txBody>
          <a:bodyPr wrap="square">
            <a:spAutoFit/>
          </a:bodyPr>
          <a:lstStyle/>
          <a:p>
            <a:pPr algn="l">
              <a:spcBef>
                <a:spcPts val="0"/>
              </a:spcBef>
              <a:spcAft>
                <a:spcPts val="0"/>
              </a:spcAft>
            </a:pPr>
            <a:r>
              <a:rPr sz="1000" b="0">
                <a:solidFill>
                  <a:srgbClr val="6B7280"/>
                </a:solidFill>
                <a:latin typeface="Calibri"/>
              </a:rPr>
              <a:t>No outbound links are sent in the new platform. Patients receive access and initiate their consult directly from the portal — broken links are impossible by design. Prescription is an atomic, integrated platform action: the record is created in the same step as the prescribe click. A committed-but-missing Rx is structurally impossible. Both channels are retired on launch.</a:t>
            </a:r>
          </a:p>
        </p:txBody>
      </p:sp>
      <p:sp>
        <p:nvSpPr>
          <p:cNvPr id="50" name="Rectangle 49"/>
          <p:cNvSpPr/>
          <p:nvPr/>
        </p:nvSpPr>
        <p:spPr>
          <a:xfrm>
            <a:off x="0" y="9628632"/>
            <a:ext cx="18288000" cy="594360"/>
          </a:xfrm>
          <a:prstGeom prst="rect">
            <a:avLst/>
          </a:prstGeom>
          <a:solidFill>
            <a:srgbClr val="3B076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457200" y="9738360"/>
            <a:ext cx="17373600" cy="457200"/>
          </a:xfrm>
          <a:prstGeom prst="rect">
            <a:avLst/>
          </a:prstGeom>
          <a:noFill/>
        </p:spPr>
        <p:txBody>
          <a:bodyPr wrap="square">
            <a:spAutoFit/>
          </a:bodyPr>
          <a:lstStyle/>
          <a:p>
            <a:pPr algn="ctr">
              <a:spcBef>
                <a:spcPts val="0"/>
              </a:spcBef>
              <a:spcAft>
                <a:spcPts val="0"/>
              </a:spcAft>
            </a:pPr>
            <a:r>
              <a:rPr sz="1200" b="1">
                <a:solidFill>
                  <a:srgbClr val="C4B5FD"/>
                </a:solidFill>
                <a:latin typeface="Calibri"/>
              </a:rPr>
              <a:t>5 Slack channels eliminated as operational hubs    |   3 workflows fully automated by platform intelligence   |   2 workflows eliminated by architecture   |   1 unified Care Team Queue — SLA-tracked, audited, zero manual monitoring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543800" y="4137660"/>
            <a:ext cx="3200400" cy="2011680"/>
          </a:xfrm>
          <a:prstGeom prst="ellipse">
            <a:avLst/>
          </a:prstGeom>
          <a:noFill/>
          <a:ln w="635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172200" y="3223260"/>
            <a:ext cx="5943600" cy="3840480"/>
          </a:xfrm>
          <a:prstGeom prst="ellipse">
            <a:avLst/>
          </a:prstGeom>
          <a:noFill/>
          <a:ln w="635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0" y="2171700"/>
            <a:ext cx="9144000" cy="5943600"/>
          </a:xfrm>
          <a:prstGeom prst="ellipse">
            <a:avLst/>
          </a:prstGeom>
          <a:noFill/>
          <a:ln w="5080">
            <a:solidFill>
              <a:srgbClr val="16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0" y="1028700"/>
            <a:ext cx="12801600" cy="8229600"/>
          </a:xfrm>
          <a:prstGeom prst="ellipse">
            <a:avLst/>
          </a:prstGeom>
          <a:noFill/>
          <a:ln w="5080">
            <a:solidFill>
              <a:srgbClr val="0F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0" y="5143500"/>
            <a:ext cx="18288000" cy="0"/>
          </a:xfrm>
          <a:prstGeom prst="line">
            <a:avLst/>
          </a:prstGeom>
          <a:ln w="5080">
            <a:solidFill>
              <a:srgbClr val="1A3050"/>
            </a:solidFill>
            <a:prstDash val="soli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0" y="0"/>
            <a:ext cx="0" cy="10287000"/>
          </a:xfrm>
          <a:prstGeom prst="line">
            <a:avLst/>
          </a:prstGeom>
          <a:ln w="5080">
            <a:solidFill>
              <a:srgbClr val="1A3050"/>
            </a:solidFill>
            <a:prstDash val="soli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148840" y="2286000"/>
            <a:ext cx="6995160" cy="2857500"/>
          </a:xfrm>
          <a:prstGeom prst="line">
            <a:avLst/>
          </a:prstGeom>
          <a:ln w="19050">
            <a:solidFill>
              <a:srgbClr val="7C3AED"/>
            </a:solidFill>
            <a:prstDash val="sys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144000" y="2286000"/>
            <a:ext cx="6995159" cy="2857500"/>
          </a:xfrm>
          <a:prstGeom prst="line">
            <a:avLst/>
          </a:prstGeom>
          <a:ln w="19050">
            <a:solidFill>
              <a:srgbClr val="0891B2"/>
            </a:solidFill>
            <a:prstDash val="sys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148840" y="5143500"/>
            <a:ext cx="6995160" cy="2857500"/>
          </a:xfrm>
          <a:prstGeom prst="line">
            <a:avLst/>
          </a:prstGeom>
          <a:ln w="19050">
            <a:solidFill>
              <a:srgbClr val="D97706"/>
            </a:solidFill>
            <a:prstDash val="sys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5143500"/>
            <a:ext cx="6995159" cy="2857500"/>
          </a:xfrm>
          <a:prstGeom prst="line">
            <a:avLst/>
          </a:prstGeom>
          <a:ln w="19050">
            <a:solidFill>
              <a:srgbClr val="059669"/>
            </a:solidFill>
            <a:prstDash val="sys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662671" y="44897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63640" y="39182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64608" y="33467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65575" y="2775204"/>
            <a:ext cx="164592" cy="16459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60736" y="44897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859767" y="39182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258800" y="33467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657831" y="2775204"/>
            <a:ext cx="164592" cy="16459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662671" y="56327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63640" y="62042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64608" y="67757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65575" y="7347204"/>
            <a:ext cx="164592" cy="164592"/>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460736" y="56327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859767" y="62042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3258800" y="67757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657831" y="7347204"/>
            <a:ext cx="164592" cy="16459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320" y="1097280"/>
            <a:ext cx="3749039" cy="2834640"/>
          </a:xfrm>
          <a:prstGeom prst="roundRect">
            <a:avLst/>
          </a:prstGeom>
          <a:noFill/>
          <a:ln w="63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 y="1143000"/>
            <a:ext cx="3657600" cy="2743200"/>
          </a:xfrm>
          <a:prstGeom prst="roundRect">
            <a:avLst/>
          </a:prstGeom>
          <a:solidFill>
            <a:srgbClr val="2D1254"/>
          </a:solidFill>
          <a:ln w="25400">
            <a:solidFill>
              <a:srgbClr val="9F6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0040" y="1143000"/>
            <a:ext cx="3657600" cy="64008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9768" y="1197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MD / DO  —  Physician Queue</a:t>
            </a:r>
          </a:p>
        </p:txBody>
      </p:sp>
      <p:sp>
        <p:nvSpPr>
          <p:cNvPr id="33" name="TextBox 32"/>
          <p:cNvSpPr txBox="1"/>
          <p:nvPr/>
        </p:nvSpPr>
        <p:spPr>
          <a:xfrm>
            <a:off x="484632" y="1874519"/>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Async Rx Consults</a:t>
            </a:r>
          </a:p>
        </p:txBody>
      </p:sp>
      <p:sp>
        <p:nvSpPr>
          <p:cNvPr id="34" name="TextBox 33"/>
          <p:cNvSpPr txBox="1"/>
          <p:nvPr/>
        </p:nvSpPr>
        <p:spPr>
          <a:xfrm>
            <a:off x="484632" y="2350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Video Consultations</a:t>
            </a:r>
          </a:p>
        </p:txBody>
      </p:sp>
      <p:sp>
        <p:nvSpPr>
          <p:cNvPr id="35" name="TextBox 34"/>
          <p:cNvSpPr txBox="1"/>
          <p:nvPr/>
        </p:nvSpPr>
        <p:spPr>
          <a:xfrm>
            <a:off x="484632" y="2825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Lab Authorization</a:t>
            </a:r>
          </a:p>
        </p:txBody>
      </p:sp>
      <p:sp>
        <p:nvSpPr>
          <p:cNvPr id="36" name="TextBox 35"/>
          <p:cNvSpPr txBox="1"/>
          <p:nvPr/>
        </p:nvSpPr>
        <p:spPr>
          <a:xfrm>
            <a:off x="484632" y="3300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Chart Closure</a:t>
            </a:r>
          </a:p>
        </p:txBody>
      </p:sp>
      <p:sp>
        <p:nvSpPr>
          <p:cNvPr id="37" name="Rounded Rectangle 36"/>
          <p:cNvSpPr/>
          <p:nvPr/>
        </p:nvSpPr>
        <p:spPr>
          <a:xfrm>
            <a:off x="14264640" y="1097280"/>
            <a:ext cx="3749039" cy="2834640"/>
          </a:xfrm>
          <a:prstGeom prst="roundRect">
            <a:avLst/>
          </a:prstGeom>
          <a:noFill/>
          <a:ln w="635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4310360" y="1143000"/>
            <a:ext cx="3657600" cy="2743200"/>
          </a:xfrm>
          <a:prstGeom prst="roundRect">
            <a:avLst/>
          </a:prstGeom>
          <a:solidFill>
            <a:srgbClr val="0B3042"/>
          </a:solidFill>
          <a:ln w="254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4310360" y="1143000"/>
            <a:ext cx="3657600" cy="640080"/>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420088" y="1197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RN  —  Nursing Queue</a:t>
            </a:r>
          </a:p>
        </p:txBody>
      </p:sp>
      <p:sp>
        <p:nvSpPr>
          <p:cNvPr id="41" name="TextBox 40"/>
          <p:cNvSpPr txBox="1"/>
          <p:nvPr/>
        </p:nvSpPr>
        <p:spPr>
          <a:xfrm>
            <a:off x="14474952" y="1874519"/>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Critical Lab Triage</a:t>
            </a:r>
          </a:p>
        </p:txBody>
      </p:sp>
      <p:sp>
        <p:nvSpPr>
          <p:cNvPr id="42" name="TextBox 41"/>
          <p:cNvSpPr txBox="1"/>
          <p:nvPr/>
        </p:nvSpPr>
        <p:spPr>
          <a:xfrm>
            <a:off x="14474952" y="2350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Titer Calls</a:t>
            </a:r>
          </a:p>
        </p:txBody>
      </p:sp>
      <p:sp>
        <p:nvSpPr>
          <p:cNvPr id="43" name="TextBox 42"/>
          <p:cNvSpPr txBox="1"/>
          <p:nvPr/>
        </p:nvSpPr>
        <p:spPr>
          <a:xfrm>
            <a:off x="14474952" y="2825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SLA Escalations</a:t>
            </a:r>
          </a:p>
        </p:txBody>
      </p:sp>
      <p:sp>
        <p:nvSpPr>
          <p:cNvPr id="44" name="TextBox 43"/>
          <p:cNvSpPr txBox="1"/>
          <p:nvPr/>
        </p:nvSpPr>
        <p:spPr>
          <a:xfrm>
            <a:off x="14474952" y="3300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On-Call Coverage</a:t>
            </a:r>
          </a:p>
        </p:txBody>
      </p:sp>
      <p:sp>
        <p:nvSpPr>
          <p:cNvPr id="45" name="Rounded Rectangle 44"/>
          <p:cNvSpPr/>
          <p:nvPr/>
        </p:nvSpPr>
        <p:spPr>
          <a:xfrm>
            <a:off x="274320" y="6812280"/>
            <a:ext cx="3749039" cy="2743200"/>
          </a:xfrm>
          <a:prstGeom prst="roundRect">
            <a:avLst/>
          </a:prstGeom>
          <a:noFill/>
          <a:ln w="63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20040" y="6858000"/>
            <a:ext cx="3657600" cy="2651760"/>
          </a:xfrm>
          <a:prstGeom prst="roundRect">
            <a:avLst/>
          </a:prstGeom>
          <a:solidFill>
            <a:srgbClr val="3D2000"/>
          </a:solidFill>
          <a:ln w="254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20040" y="6858000"/>
            <a:ext cx="365760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29768" y="6912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MA  —  Medical Assistant Queue</a:t>
            </a:r>
          </a:p>
        </p:txBody>
      </p:sp>
      <p:sp>
        <p:nvSpPr>
          <p:cNvPr id="49" name="TextBox 48"/>
          <p:cNvSpPr txBox="1"/>
          <p:nvPr/>
        </p:nvSpPr>
        <p:spPr>
          <a:xfrm>
            <a:off x="484632" y="7589520"/>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Intake Processing</a:t>
            </a:r>
          </a:p>
        </p:txBody>
      </p:sp>
      <p:sp>
        <p:nvSpPr>
          <p:cNvPr id="50" name="TextBox 49"/>
          <p:cNvSpPr txBox="1"/>
          <p:nvPr/>
        </p:nvSpPr>
        <p:spPr>
          <a:xfrm>
            <a:off x="484632" y="8065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Prior Authorizations</a:t>
            </a:r>
          </a:p>
        </p:txBody>
      </p:sp>
      <p:sp>
        <p:nvSpPr>
          <p:cNvPr id="51" name="TextBox 50"/>
          <p:cNvSpPr txBox="1"/>
          <p:nvPr/>
        </p:nvSpPr>
        <p:spPr>
          <a:xfrm>
            <a:off x="484632" y="8540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Patient Reminders</a:t>
            </a:r>
          </a:p>
        </p:txBody>
      </p:sp>
      <p:sp>
        <p:nvSpPr>
          <p:cNvPr id="52" name="TextBox 51"/>
          <p:cNvSpPr txBox="1"/>
          <p:nvPr/>
        </p:nvSpPr>
        <p:spPr>
          <a:xfrm>
            <a:off x="484632" y="9015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Lab Scheduling</a:t>
            </a:r>
          </a:p>
        </p:txBody>
      </p:sp>
      <p:sp>
        <p:nvSpPr>
          <p:cNvPr id="53" name="Rounded Rectangle 52"/>
          <p:cNvSpPr/>
          <p:nvPr/>
        </p:nvSpPr>
        <p:spPr>
          <a:xfrm>
            <a:off x="14264640" y="6812280"/>
            <a:ext cx="3749039" cy="2743200"/>
          </a:xfrm>
          <a:prstGeom prst="roundRect">
            <a:avLst/>
          </a:prstGeom>
          <a:no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4310360" y="6858000"/>
            <a:ext cx="3657600" cy="2651760"/>
          </a:xfrm>
          <a:prstGeom prst="roundRect">
            <a:avLst/>
          </a:prstGeom>
          <a:solidFill>
            <a:srgbClr val="012A1A"/>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4310360" y="6858000"/>
            <a:ext cx="3657600" cy="64008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420088" y="6912864"/>
            <a:ext cx="3438144" cy="548640"/>
          </a:xfrm>
          <a:prstGeom prst="rect">
            <a:avLst/>
          </a:prstGeom>
          <a:noFill/>
        </p:spPr>
        <p:txBody>
          <a:bodyPr wrap="square">
            <a:spAutoFit/>
          </a:bodyPr>
          <a:lstStyle/>
          <a:p>
            <a:pPr algn="ctr">
              <a:spcBef>
                <a:spcPts val="0"/>
              </a:spcBef>
              <a:spcAft>
                <a:spcPts val="100"/>
              </a:spcAft>
            </a:pPr>
            <a:r>
              <a:rPr sz="1100" b="1">
                <a:solidFill>
                  <a:srgbClr val="FFFFFF"/>
                </a:solidFill>
                <a:latin typeface="Calibri"/>
              </a:rPr>
              <a:t>CT  —  Care Team Queue</a:t>
            </a:r>
          </a:p>
        </p:txBody>
      </p:sp>
      <p:sp>
        <p:nvSpPr>
          <p:cNvPr id="57" name="TextBox 56"/>
          <p:cNvSpPr txBox="1"/>
          <p:nvPr/>
        </p:nvSpPr>
        <p:spPr>
          <a:xfrm>
            <a:off x="14474952" y="7589520"/>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Abnormal Outreach</a:t>
            </a:r>
          </a:p>
        </p:txBody>
      </p:sp>
      <p:sp>
        <p:nvSpPr>
          <p:cNvPr id="58" name="TextBox 57"/>
          <p:cNvSpPr txBox="1"/>
          <p:nvPr/>
        </p:nvSpPr>
        <p:spPr>
          <a:xfrm>
            <a:off x="14474952" y="8065008"/>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Reassignment Tasks</a:t>
            </a:r>
          </a:p>
        </p:txBody>
      </p:sp>
      <p:sp>
        <p:nvSpPr>
          <p:cNvPr id="59" name="TextBox 58"/>
          <p:cNvSpPr txBox="1"/>
          <p:nvPr/>
        </p:nvSpPr>
        <p:spPr>
          <a:xfrm>
            <a:off x="14474952" y="8540496"/>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Complex Cases</a:t>
            </a:r>
          </a:p>
        </p:txBody>
      </p:sp>
      <p:sp>
        <p:nvSpPr>
          <p:cNvPr id="60" name="TextBox 59"/>
          <p:cNvSpPr txBox="1"/>
          <p:nvPr/>
        </p:nvSpPr>
        <p:spPr>
          <a:xfrm>
            <a:off x="14474952" y="9015984"/>
            <a:ext cx="3364992" cy="438912"/>
          </a:xfrm>
          <a:prstGeom prst="rect">
            <a:avLst/>
          </a:prstGeom>
          <a:noFill/>
        </p:spPr>
        <p:txBody>
          <a:bodyPr wrap="square">
            <a:spAutoFit/>
          </a:bodyPr>
          <a:lstStyle/>
          <a:p>
            <a:pPr algn="l">
              <a:spcBef>
                <a:spcPts val="0"/>
              </a:spcBef>
              <a:spcAft>
                <a:spcPts val="100"/>
              </a:spcAft>
            </a:pPr>
            <a:r>
              <a:rPr sz="1000" b="0">
                <a:solidFill>
                  <a:srgbClr val="CBD5E1"/>
                </a:solidFill>
                <a:latin typeface="Calibri"/>
              </a:rPr>
              <a:t>▸  PSR Call Queue</a:t>
            </a:r>
          </a:p>
        </p:txBody>
      </p:sp>
      <p:sp>
        <p:nvSpPr>
          <p:cNvPr id="61" name="Oval 60"/>
          <p:cNvSpPr/>
          <p:nvPr/>
        </p:nvSpPr>
        <p:spPr>
          <a:xfrm>
            <a:off x="7406640" y="3954780"/>
            <a:ext cx="3474720" cy="2377440"/>
          </a:xfrm>
          <a:prstGeom prst="ellipse">
            <a:avLst/>
          </a:prstGeom>
          <a:noFill/>
          <a:ln w="7620">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772400" y="4229100"/>
            <a:ext cx="2743200" cy="1828800"/>
          </a:xfrm>
          <a:prstGeom prst="ellipse">
            <a:avLst/>
          </a:prstGeom>
          <a:no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955279" y="4320540"/>
            <a:ext cx="2377440" cy="1645920"/>
          </a:xfrm>
          <a:prstGeom prst="ellipse">
            <a:avLst/>
          </a:prstGeom>
          <a:solidFill>
            <a:srgbClr val="1E0B3E"/>
          </a:solidFill>
          <a:ln w="317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46720" y="4393692"/>
            <a:ext cx="2194560" cy="1499616"/>
          </a:xfrm>
          <a:prstGeom prst="rect">
            <a:avLst/>
          </a:prstGeom>
          <a:noFill/>
        </p:spPr>
        <p:txBody>
          <a:bodyPr wrap="square">
            <a:spAutoFit/>
          </a:bodyPr>
          <a:lstStyle/>
          <a:p>
            <a:pPr algn="ctr">
              <a:spcBef>
                <a:spcPts val="0"/>
              </a:spcBef>
              <a:spcAft>
                <a:spcPts val="100"/>
              </a:spcAft>
            </a:pPr>
            <a:r>
              <a:rPr sz="1500" b="0">
                <a:solidFill>
                  <a:srgbClr val="F9A8D4"/>
                </a:solidFill>
                <a:latin typeface="Calibri"/>
              </a:rPr>
              <a:t>⚡</a:t>
            </a:r>
          </a:p>
          <a:p>
            <a:pPr algn="ctr">
              <a:spcBef>
                <a:spcPts val="0"/>
              </a:spcBef>
              <a:spcAft>
                <a:spcPts val="100"/>
              </a:spcAft>
            </a:pPr>
            <a:r>
              <a:rPr sz="950" b="1">
                <a:solidFill>
                  <a:srgbClr val="C4B5FD"/>
                </a:solidFill>
                <a:latin typeface="Calibri"/>
              </a:rPr>
              <a:t>PLATFORM</a:t>
            </a:r>
          </a:p>
          <a:p>
            <a:pPr algn="ctr">
              <a:spcBef>
                <a:spcPts val="0"/>
              </a:spcBef>
              <a:spcAft>
                <a:spcPts val="100"/>
              </a:spcAft>
            </a:pPr>
            <a:r>
              <a:rPr sz="950" b="1">
                <a:solidFill>
                  <a:srgbClr val="C4B5FD"/>
                </a:solidFill>
                <a:latin typeface="Calibri"/>
              </a:rPr>
              <a:t>INTELLIGENCE</a:t>
            </a:r>
          </a:p>
          <a:p>
            <a:pPr algn="ctr">
              <a:spcBef>
                <a:spcPts val="0"/>
              </a:spcBef>
              <a:spcAft>
                <a:spcPts val="100"/>
              </a:spcAft>
            </a:pPr>
            <a:r>
              <a:rPr sz="950" b="1">
                <a:solidFill>
                  <a:srgbClr val="C4B5FD"/>
                </a:solidFill>
                <a:latin typeface="Calibri"/>
              </a:rPr>
              <a:t>HUB</a:t>
            </a:r>
          </a:p>
        </p:txBody>
      </p:sp>
      <p:sp>
        <p:nvSpPr>
          <p:cNvPr id="65" name="Rounded Rectangle 64"/>
          <p:cNvSpPr/>
          <p:nvPr/>
        </p:nvSpPr>
        <p:spPr>
          <a:xfrm>
            <a:off x="5532120" y="3419856"/>
            <a:ext cx="1920240" cy="292608"/>
          </a:xfrm>
          <a:prstGeom prst="roundRect">
            <a:avLst/>
          </a:prstGeom>
          <a:solidFill>
            <a:srgbClr val="0F1D30"/>
          </a:solidFill>
          <a:ln w="9525">
            <a:solidFill>
              <a:srgbClr val="9F6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77840" y="3438144"/>
            <a:ext cx="1828800" cy="310896"/>
          </a:xfrm>
          <a:prstGeom prst="rect">
            <a:avLst/>
          </a:prstGeom>
          <a:noFill/>
        </p:spPr>
        <p:txBody>
          <a:bodyPr wrap="square">
            <a:spAutoFit/>
          </a:bodyPr>
          <a:lstStyle/>
          <a:p>
            <a:pPr algn="ctr">
              <a:spcBef>
                <a:spcPts val="0"/>
              </a:spcBef>
              <a:spcAft>
                <a:spcPts val="100"/>
              </a:spcAft>
            </a:pPr>
            <a:r>
              <a:rPr sz="800" b="0">
                <a:solidFill>
                  <a:srgbClr val="9F67FF"/>
                </a:solidFill>
                <a:latin typeface="Calibri"/>
              </a:rPr>
              <a:t>Rx · Async · Video</a:t>
            </a:r>
          </a:p>
        </p:txBody>
      </p:sp>
      <p:sp>
        <p:nvSpPr>
          <p:cNvPr id="67" name="Rounded Rectangle 66"/>
          <p:cNvSpPr/>
          <p:nvPr/>
        </p:nvSpPr>
        <p:spPr>
          <a:xfrm>
            <a:off x="11612880" y="3419856"/>
            <a:ext cx="1920240" cy="292608"/>
          </a:xfrm>
          <a:prstGeom prst="roundRect">
            <a:avLst/>
          </a:prstGeom>
          <a:solidFill>
            <a:srgbClr val="0F1D30"/>
          </a:solidFill>
          <a:ln w="9525">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658600" y="3438144"/>
            <a:ext cx="1828800" cy="310896"/>
          </a:xfrm>
          <a:prstGeom prst="rect">
            <a:avLst/>
          </a:prstGeom>
          <a:noFill/>
        </p:spPr>
        <p:txBody>
          <a:bodyPr wrap="square">
            <a:spAutoFit/>
          </a:bodyPr>
          <a:lstStyle/>
          <a:p>
            <a:pPr algn="ctr">
              <a:spcBef>
                <a:spcPts val="0"/>
              </a:spcBef>
              <a:spcAft>
                <a:spcPts val="100"/>
              </a:spcAft>
            </a:pPr>
            <a:r>
              <a:rPr sz="800" b="0">
                <a:solidFill>
                  <a:srgbClr val="22D3EE"/>
                </a:solidFill>
                <a:latin typeface="Calibri"/>
              </a:rPr>
              <a:t>Labs · Titers · SLA</a:t>
            </a:r>
          </a:p>
        </p:txBody>
      </p:sp>
      <p:sp>
        <p:nvSpPr>
          <p:cNvPr id="69" name="Rounded Rectangle 68"/>
          <p:cNvSpPr/>
          <p:nvPr/>
        </p:nvSpPr>
        <p:spPr>
          <a:xfrm>
            <a:off x="5532120" y="6547104"/>
            <a:ext cx="1920240" cy="292608"/>
          </a:xfrm>
          <a:prstGeom prst="roundRect">
            <a:avLst/>
          </a:prstGeom>
          <a:solidFill>
            <a:srgbClr val="0F1D30"/>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577840" y="6565392"/>
            <a:ext cx="1828800" cy="310896"/>
          </a:xfrm>
          <a:prstGeom prst="rect">
            <a:avLst/>
          </a:prstGeom>
          <a:noFill/>
        </p:spPr>
        <p:txBody>
          <a:bodyPr wrap="square">
            <a:spAutoFit/>
          </a:bodyPr>
          <a:lstStyle/>
          <a:p>
            <a:pPr algn="ctr">
              <a:spcBef>
                <a:spcPts val="0"/>
              </a:spcBef>
              <a:spcAft>
                <a:spcPts val="100"/>
              </a:spcAft>
            </a:pPr>
            <a:r>
              <a:rPr sz="800" b="0">
                <a:solidFill>
                  <a:srgbClr val="FCD34D"/>
                </a:solidFill>
                <a:latin typeface="Calibri"/>
              </a:rPr>
              <a:t>Intake · PA · Reminders</a:t>
            </a:r>
          </a:p>
        </p:txBody>
      </p:sp>
      <p:sp>
        <p:nvSpPr>
          <p:cNvPr id="71" name="Rounded Rectangle 70"/>
          <p:cNvSpPr/>
          <p:nvPr/>
        </p:nvSpPr>
        <p:spPr>
          <a:xfrm>
            <a:off x="11612880" y="6547104"/>
            <a:ext cx="1920240" cy="292608"/>
          </a:xfrm>
          <a:prstGeom prst="roundRect">
            <a:avLst/>
          </a:prstGeom>
          <a:solidFill>
            <a:srgbClr val="0F1D30"/>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658600" y="6565392"/>
            <a:ext cx="1828800" cy="310896"/>
          </a:xfrm>
          <a:prstGeom prst="rect">
            <a:avLst/>
          </a:prstGeom>
          <a:noFill/>
        </p:spPr>
        <p:txBody>
          <a:bodyPr wrap="square">
            <a:spAutoFit/>
          </a:bodyPr>
          <a:lstStyle/>
          <a:p>
            <a:pPr algn="ctr">
              <a:spcBef>
                <a:spcPts val="0"/>
              </a:spcBef>
              <a:spcAft>
                <a:spcPts val="100"/>
              </a:spcAft>
            </a:pPr>
            <a:r>
              <a:rPr sz="800" b="0">
                <a:solidFill>
                  <a:srgbClr val="34D399"/>
                </a:solidFill>
                <a:latin typeface="Calibri"/>
              </a:rPr>
              <a:t>Outreach · Cases · PSR</a:t>
            </a:r>
          </a:p>
        </p:txBody>
      </p:sp>
      <p:sp>
        <p:nvSpPr>
          <p:cNvPr id="73" name="Rectangle 72"/>
          <p:cNvSpPr/>
          <p:nvPr/>
        </p:nvSpPr>
        <p:spPr>
          <a:xfrm>
            <a:off x="0" y="0"/>
            <a:ext cx="18288000" cy="960120"/>
          </a:xfrm>
          <a:prstGeom prst="rect">
            <a:avLst/>
          </a:prstGeom>
          <a:solidFill>
            <a:srgbClr val="15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 y="73152"/>
            <a:ext cx="17647920" cy="475488"/>
          </a:xfrm>
          <a:prstGeom prst="rect">
            <a:avLst/>
          </a:prstGeom>
          <a:noFill/>
        </p:spPr>
        <p:txBody>
          <a:bodyPr wrap="square">
            <a:spAutoFit/>
          </a:bodyPr>
          <a:lstStyle/>
          <a:p>
            <a:pPr algn="l">
              <a:spcBef>
                <a:spcPts val="0"/>
              </a:spcBef>
              <a:spcAft>
                <a:spcPts val="100"/>
              </a:spcAft>
            </a:pPr>
            <a:r>
              <a:rPr sz="2000" b="1">
                <a:solidFill>
                  <a:srgbClr val="FFFFFF"/>
                </a:solidFill>
                <a:latin typeface="Calibri"/>
              </a:rPr>
              <a:t>Everlywell Telehealth Platform — Air Traffic Control</a:t>
            </a:r>
          </a:p>
        </p:txBody>
      </p:sp>
      <p:sp>
        <p:nvSpPr>
          <p:cNvPr id="75" name="TextBox 74"/>
          <p:cNvSpPr txBox="1"/>
          <p:nvPr/>
        </p:nvSpPr>
        <p:spPr>
          <a:xfrm>
            <a:off x="320040" y="548640"/>
            <a:ext cx="17647920" cy="365760"/>
          </a:xfrm>
          <a:prstGeom prst="rect">
            <a:avLst/>
          </a:prstGeom>
          <a:noFill/>
        </p:spPr>
        <p:txBody>
          <a:bodyPr wrap="square">
            <a:spAutoFit/>
          </a:bodyPr>
          <a:lstStyle/>
          <a:p>
            <a:pPr algn="l">
              <a:spcBef>
                <a:spcPts val="0"/>
              </a:spcBef>
              <a:spcAft>
                <a:spcPts val="100"/>
              </a:spcAft>
            </a:pPr>
            <a:r>
              <a:rPr sz="1000" b="0">
                <a:solidFill>
                  <a:srgbClr val="C4B5FD"/>
                </a:solidFill>
                <a:latin typeface="Calibri"/>
              </a:rPr>
              <a:t>The platform routes every patient consult to the right provider queue automatically — eliminating manual triage, Slack coordination, and missed handoffs</a:t>
            </a:r>
          </a:p>
        </p:txBody>
      </p:sp>
      <p:sp>
        <p:nvSpPr>
          <p:cNvPr id="76" name="Rectangle 75"/>
          <p:cNvSpPr/>
          <p:nvPr/>
        </p:nvSpPr>
        <p:spPr>
          <a:xfrm>
            <a:off x="0" y="9692640"/>
            <a:ext cx="18288000" cy="594360"/>
          </a:xfrm>
          <a:prstGeom prst="rect">
            <a:avLst/>
          </a:prstGeom>
          <a:solidFill>
            <a:srgbClr val="15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9802367"/>
            <a:ext cx="17373600" cy="457200"/>
          </a:xfrm>
          <a:prstGeom prst="rect">
            <a:avLst/>
          </a:prstGeom>
          <a:noFill/>
        </p:spPr>
        <p:txBody>
          <a:bodyPr wrap="square">
            <a:spAutoFit/>
          </a:bodyPr>
          <a:lstStyle/>
          <a:p>
            <a:pPr algn="ctr">
              <a:spcBef>
                <a:spcPts val="0"/>
              </a:spcBef>
              <a:spcAft>
                <a:spcPts val="100"/>
              </a:spcAft>
            </a:pPr>
            <a:r>
              <a:rPr sz="1100" b="1">
                <a:solidFill>
                  <a:srgbClr val="C4B5FD"/>
                </a:solidFill>
                <a:latin typeface="Calibri"/>
              </a:rPr>
              <a:t>4 Role Queues   ·   Automatic Routing by Consult Type   ·   SLA-Tracked   ·   Zero Manual Triage   ·   Full Audit Trail   ·   Real-Time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1014</Words>
  <Application>Microsoft Macintosh PowerPoint</Application>
  <PresentationFormat>Custom</PresentationFormat>
  <Paragraphs>221</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Inter</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Justin Woller</cp:lastModifiedBy>
  <cp:revision>2</cp:revision>
  <dcterms:created xsi:type="dcterms:W3CDTF">2026-06-30T15:47:12Z</dcterms:created>
  <dcterms:modified xsi:type="dcterms:W3CDTF">2026-06-30T16:05:54Z</dcterms:modified>
</cp:coreProperties>
</file>